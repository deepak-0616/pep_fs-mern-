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10"/>
  </p:normalViewPr>
  <p:slideViewPr>
    <p:cSldViewPr snapToGrid="0" snapToObjects="1">
      <p:cViewPr varScale="1">
        <p:scale>
          <a:sx n="92" d="100"/>
          <a:sy n="92" d="100"/>
        </p:scale>
        <p:origin x="5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930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Chess Evolve is a personalized chess AI that learns how you play and shows how you could evolve. Intended build: board fades in, king silhouette appears, neural lines illuminate, then title and subtitle.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chess engines today are optimized for objective strength, while weakened bots often introduce artificial mistakes. Neither approach really models the way an individual human player makes decisions. Chess Evolve addresses this by learning directly from a player's real game history. Current Self models natural behavior, while Peak Self explores a stronger version of that same playing identity.
Animation cue: problem cards appear sequentially; the board shifts from red to emerald/gold; Current Self appears first, then Peak Self emerges from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separates user interaction from computationally expensive processing. Real Chess.com game data enters through the backend, durable queues process large workloads, Stockfish generates objective chess signals, and our PyTorch service learns the player's personalized decision patterns.
Animation cue: glowing path moves Chess.com → Backend → Queue → Stockfish → Features → PyTorch → Models → User.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candidate ranking rather than unconstrained move generation. This gives the model a controlled legal action space. Stockfish provides objective chess information, while the neural model learns which of those candidate moves the player is likely to prefer. Current Self models natural behavior, and Peak Self uses quality-guided learning to improve decision quality while preserving style.
Animation cue: board position appears, candidate moves light up, both encoders activate, fusion, Current Self picks the natural move, Peak Self picks the improved move.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were obtained from real game data and production validation. Current Self demonstrates measurable ability to reproduce player decisions, while Peak Self improves evaluated weaknesses while preserving a substantial portion of the player's behavioral identity. The key idea is not to replace the player with Stockfish, but to use AI to create a stronger version of the player's own decision-making style.
Animation cue: metric cards count up, table reveals row by row, then 35–38% weakness reduction + 72–75% style preservation animate together: PLAYER IDENTITY + CHESS IMPROVEMENT.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Chess Evolve is ultimately about personalized improvement. Instead of asking only what the best chess move is, we ask what this player would do—and what a stronger version of this player could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a:effectLst/>
      </p:bgPr>
    </p:bg>
    <p:spTree>
      <p:nvGrpSpPr>
        <p:cNvPr id="1" name=""/>
        <p:cNvGrpSpPr/>
        <p:nvPr/>
      </p:nvGrpSpPr>
      <p:grpSpPr>
        <a:xfrm>
          <a:off x="0" y="0"/>
          <a:ext cx="0" cy="0"/>
          <a:chOff x="0" y="0"/>
          <a:chExt cx="0" cy="0"/>
        </a:xfrm>
      </p:grpSpPr>
      <p:sp>
        <p:nvSpPr>
          <p:cNvPr id="2" name="Shape 0"/>
          <p:cNvSpPr/>
          <p:nvPr/>
        </p:nvSpPr>
        <p:spPr>
          <a:xfrm>
            <a:off x="4206240" y="365760"/>
            <a:ext cx="566928" cy="566928"/>
          </a:xfrm>
          <a:prstGeom prst="rect">
            <a:avLst/>
          </a:prstGeom>
          <a:solidFill>
            <a:srgbClr val="D4AF37">
              <a:alpha val="7000"/>
            </a:srgbClr>
          </a:solidFill>
          <a:ln w="3175">
            <a:solidFill>
              <a:srgbClr val="D4AF37">
                <a:alpha val="10000"/>
              </a:srgbClr>
            </a:solidFill>
            <a:prstDash val="solid"/>
          </a:ln>
        </p:spPr>
      </p:sp>
      <p:sp>
        <p:nvSpPr>
          <p:cNvPr id="3" name="Shape 1"/>
          <p:cNvSpPr/>
          <p:nvPr/>
        </p:nvSpPr>
        <p:spPr>
          <a:xfrm>
            <a:off x="4206240" y="1499616"/>
            <a:ext cx="566928" cy="566928"/>
          </a:xfrm>
          <a:prstGeom prst="rect">
            <a:avLst/>
          </a:prstGeom>
          <a:solidFill>
            <a:srgbClr val="D4AF37">
              <a:alpha val="7000"/>
            </a:srgbClr>
          </a:solidFill>
          <a:ln w="3175">
            <a:solidFill>
              <a:srgbClr val="D4AF37">
                <a:alpha val="10000"/>
              </a:srgbClr>
            </a:solidFill>
            <a:prstDash val="solid"/>
          </a:ln>
        </p:spPr>
      </p:sp>
      <p:sp>
        <p:nvSpPr>
          <p:cNvPr id="4" name="Shape 2"/>
          <p:cNvSpPr/>
          <p:nvPr/>
        </p:nvSpPr>
        <p:spPr>
          <a:xfrm>
            <a:off x="4206240" y="2633472"/>
            <a:ext cx="566928" cy="566928"/>
          </a:xfrm>
          <a:prstGeom prst="rect">
            <a:avLst/>
          </a:prstGeom>
          <a:solidFill>
            <a:srgbClr val="D4AF37">
              <a:alpha val="7000"/>
            </a:srgbClr>
          </a:solidFill>
          <a:ln w="3175">
            <a:solidFill>
              <a:srgbClr val="D4AF37">
                <a:alpha val="10000"/>
              </a:srgbClr>
            </a:solidFill>
            <a:prstDash val="solid"/>
          </a:ln>
        </p:spPr>
      </p:sp>
      <p:sp>
        <p:nvSpPr>
          <p:cNvPr id="5" name="Shape 3"/>
          <p:cNvSpPr/>
          <p:nvPr/>
        </p:nvSpPr>
        <p:spPr>
          <a:xfrm>
            <a:off x="4206240" y="3767328"/>
            <a:ext cx="566928" cy="566928"/>
          </a:xfrm>
          <a:prstGeom prst="rect">
            <a:avLst/>
          </a:prstGeom>
          <a:solidFill>
            <a:srgbClr val="D4AF37">
              <a:alpha val="7000"/>
            </a:srgbClr>
          </a:solidFill>
          <a:ln w="3175">
            <a:solidFill>
              <a:srgbClr val="D4AF37">
                <a:alpha val="10000"/>
              </a:srgbClr>
            </a:solidFill>
            <a:prstDash val="solid"/>
          </a:ln>
        </p:spPr>
      </p:sp>
      <p:sp>
        <p:nvSpPr>
          <p:cNvPr id="6" name="Shape 4"/>
          <p:cNvSpPr/>
          <p:nvPr/>
        </p:nvSpPr>
        <p:spPr>
          <a:xfrm>
            <a:off x="4773168" y="932688"/>
            <a:ext cx="566928" cy="566928"/>
          </a:xfrm>
          <a:prstGeom prst="rect">
            <a:avLst/>
          </a:prstGeom>
          <a:solidFill>
            <a:srgbClr val="D4AF37">
              <a:alpha val="7000"/>
            </a:srgbClr>
          </a:solidFill>
          <a:ln w="3175">
            <a:solidFill>
              <a:srgbClr val="D4AF37">
                <a:alpha val="10000"/>
              </a:srgbClr>
            </a:solidFill>
            <a:prstDash val="solid"/>
          </a:ln>
        </p:spPr>
      </p:sp>
      <p:sp>
        <p:nvSpPr>
          <p:cNvPr id="7" name="Shape 5"/>
          <p:cNvSpPr/>
          <p:nvPr/>
        </p:nvSpPr>
        <p:spPr>
          <a:xfrm>
            <a:off x="4773168" y="2066544"/>
            <a:ext cx="566928" cy="566928"/>
          </a:xfrm>
          <a:prstGeom prst="rect">
            <a:avLst/>
          </a:prstGeom>
          <a:solidFill>
            <a:srgbClr val="D4AF37">
              <a:alpha val="7000"/>
            </a:srgbClr>
          </a:solidFill>
          <a:ln w="3175">
            <a:solidFill>
              <a:srgbClr val="D4AF37">
                <a:alpha val="10000"/>
              </a:srgbClr>
            </a:solidFill>
            <a:prstDash val="solid"/>
          </a:ln>
        </p:spPr>
      </p:sp>
      <p:sp>
        <p:nvSpPr>
          <p:cNvPr id="8" name="Shape 6"/>
          <p:cNvSpPr/>
          <p:nvPr/>
        </p:nvSpPr>
        <p:spPr>
          <a:xfrm>
            <a:off x="4773168" y="3200400"/>
            <a:ext cx="566928" cy="566928"/>
          </a:xfrm>
          <a:prstGeom prst="rect">
            <a:avLst/>
          </a:prstGeom>
          <a:solidFill>
            <a:srgbClr val="D4AF37">
              <a:alpha val="7000"/>
            </a:srgbClr>
          </a:solidFill>
          <a:ln w="3175">
            <a:solidFill>
              <a:srgbClr val="D4AF37">
                <a:alpha val="10000"/>
              </a:srgbClr>
            </a:solidFill>
            <a:prstDash val="solid"/>
          </a:ln>
        </p:spPr>
      </p:sp>
      <p:sp>
        <p:nvSpPr>
          <p:cNvPr id="9" name="Shape 7"/>
          <p:cNvSpPr/>
          <p:nvPr/>
        </p:nvSpPr>
        <p:spPr>
          <a:xfrm>
            <a:off x="4773168" y="4334256"/>
            <a:ext cx="566928" cy="566928"/>
          </a:xfrm>
          <a:prstGeom prst="rect">
            <a:avLst/>
          </a:prstGeom>
          <a:solidFill>
            <a:srgbClr val="D4AF37">
              <a:alpha val="7000"/>
            </a:srgbClr>
          </a:solidFill>
          <a:ln w="3175">
            <a:solidFill>
              <a:srgbClr val="D4AF37">
                <a:alpha val="10000"/>
              </a:srgbClr>
            </a:solidFill>
            <a:prstDash val="solid"/>
          </a:ln>
        </p:spPr>
      </p:sp>
      <p:sp>
        <p:nvSpPr>
          <p:cNvPr id="10" name="Shape 8"/>
          <p:cNvSpPr/>
          <p:nvPr/>
        </p:nvSpPr>
        <p:spPr>
          <a:xfrm>
            <a:off x="5340096" y="365760"/>
            <a:ext cx="566928" cy="566928"/>
          </a:xfrm>
          <a:prstGeom prst="rect">
            <a:avLst/>
          </a:prstGeom>
          <a:solidFill>
            <a:srgbClr val="D4AF37">
              <a:alpha val="7000"/>
            </a:srgbClr>
          </a:solidFill>
          <a:ln w="3175">
            <a:solidFill>
              <a:srgbClr val="D4AF37">
                <a:alpha val="10000"/>
              </a:srgbClr>
            </a:solidFill>
            <a:prstDash val="solid"/>
          </a:ln>
        </p:spPr>
      </p:sp>
      <p:sp>
        <p:nvSpPr>
          <p:cNvPr id="11" name="Shape 9"/>
          <p:cNvSpPr/>
          <p:nvPr/>
        </p:nvSpPr>
        <p:spPr>
          <a:xfrm>
            <a:off x="5340096" y="1499616"/>
            <a:ext cx="566928" cy="566928"/>
          </a:xfrm>
          <a:prstGeom prst="rect">
            <a:avLst/>
          </a:prstGeom>
          <a:solidFill>
            <a:srgbClr val="D4AF37">
              <a:alpha val="7000"/>
            </a:srgbClr>
          </a:solidFill>
          <a:ln w="3175">
            <a:solidFill>
              <a:srgbClr val="D4AF37">
                <a:alpha val="10000"/>
              </a:srgbClr>
            </a:solidFill>
            <a:prstDash val="solid"/>
          </a:ln>
        </p:spPr>
      </p:sp>
      <p:sp>
        <p:nvSpPr>
          <p:cNvPr id="12" name="Shape 10"/>
          <p:cNvSpPr/>
          <p:nvPr/>
        </p:nvSpPr>
        <p:spPr>
          <a:xfrm>
            <a:off x="5340096" y="2633472"/>
            <a:ext cx="566928" cy="566928"/>
          </a:xfrm>
          <a:prstGeom prst="rect">
            <a:avLst/>
          </a:prstGeom>
          <a:solidFill>
            <a:srgbClr val="D4AF37">
              <a:alpha val="7000"/>
            </a:srgbClr>
          </a:solidFill>
          <a:ln w="3175">
            <a:solidFill>
              <a:srgbClr val="D4AF37">
                <a:alpha val="10000"/>
              </a:srgbClr>
            </a:solidFill>
            <a:prstDash val="solid"/>
          </a:ln>
        </p:spPr>
      </p:sp>
      <p:sp>
        <p:nvSpPr>
          <p:cNvPr id="13" name="Shape 11"/>
          <p:cNvSpPr/>
          <p:nvPr/>
        </p:nvSpPr>
        <p:spPr>
          <a:xfrm>
            <a:off x="5340096" y="3767328"/>
            <a:ext cx="566928" cy="566928"/>
          </a:xfrm>
          <a:prstGeom prst="rect">
            <a:avLst/>
          </a:prstGeom>
          <a:solidFill>
            <a:srgbClr val="D4AF37">
              <a:alpha val="7000"/>
            </a:srgbClr>
          </a:solidFill>
          <a:ln w="3175">
            <a:solidFill>
              <a:srgbClr val="D4AF37">
                <a:alpha val="10000"/>
              </a:srgbClr>
            </a:solidFill>
            <a:prstDash val="solid"/>
          </a:ln>
        </p:spPr>
      </p:sp>
      <p:sp>
        <p:nvSpPr>
          <p:cNvPr id="14" name="Shape 12"/>
          <p:cNvSpPr/>
          <p:nvPr/>
        </p:nvSpPr>
        <p:spPr>
          <a:xfrm>
            <a:off x="5907024" y="932688"/>
            <a:ext cx="566928" cy="566928"/>
          </a:xfrm>
          <a:prstGeom prst="rect">
            <a:avLst/>
          </a:prstGeom>
          <a:solidFill>
            <a:srgbClr val="D4AF37">
              <a:alpha val="7000"/>
            </a:srgbClr>
          </a:solidFill>
          <a:ln w="3175">
            <a:solidFill>
              <a:srgbClr val="D4AF37">
                <a:alpha val="10000"/>
              </a:srgbClr>
            </a:solidFill>
            <a:prstDash val="solid"/>
          </a:ln>
        </p:spPr>
      </p:sp>
      <p:sp>
        <p:nvSpPr>
          <p:cNvPr id="15" name="Shape 13"/>
          <p:cNvSpPr/>
          <p:nvPr/>
        </p:nvSpPr>
        <p:spPr>
          <a:xfrm>
            <a:off x="5907024" y="2066544"/>
            <a:ext cx="566928" cy="566928"/>
          </a:xfrm>
          <a:prstGeom prst="rect">
            <a:avLst/>
          </a:prstGeom>
          <a:solidFill>
            <a:srgbClr val="D4AF37">
              <a:alpha val="7000"/>
            </a:srgbClr>
          </a:solidFill>
          <a:ln w="3175">
            <a:solidFill>
              <a:srgbClr val="D4AF37">
                <a:alpha val="10000"/>
              </a:srgbClr>
            </a:solidFill>
            <a:prstDash val="solid"/>
          </a:ln>
        </p:spPr>
      </p:sp>
      <p:sp>
        <p:nvSpPr>
          <p:cNvPr id="16" name="Shape 14"/>
          <p:cNvSpPr/>
          <p:nvPr/>
        </p:nvSpPr>
        <p:spPr>
          <a:xfrm>
            <a:off x="5907024" y="3200400"/>
            <a:ext cx="566928" cy="566928"/>
          </a:xfrm>
          <a:prstGeom prst="rect">
            <a:avLst/>
          </a:prstGeom>
          <a:solidFill>
            <a:srgbClr val="D4AF37">
              <a:alpha val="7000"/>
            </a:srgbClr>
          </a:solidFill>
          <a:ln w="3175">
            <a:solidFill>
              <a:srgbClr val="D4AF37">
                <a:alpha val="10000"/>
              </a:srgbClr>
            </a:solidFill>
            <a:prstDash val="solid"/>
          </a:ln>
        </p:spPr>
      </p:sp>
      <p:sp>
        <p:nvSpPr>
          <p:cNvPr id="17" name="Shape 15"/>
          <p:cNvSpPr/>
          <p:nvPr/>
        </p:nvSpPr>
        <p:spPr>
          <a:xfrm>
            <a:off x="5907024" y="4334256"/>
            <a:ext cx="566928" cy="566928"/>
          </a:xfrm>
          <a:prstGeom prst="rect">
            <a:avLst/>
          </a:prstGeom>
          <a:solidFill>
            <a:srgbClr val="D4AF37">
              <a:alpha val="7000"/>
            </a:srgbClr>
          </a:solidFill>
          <a:ln w="3175">
            <a:solidFill>
              <a:srgbClr val="D4AF37">
                <a:alpha val="10000"/>
              </a:srgbClr>
            </a:solidFill>
            <a:prstDash val="solid"/>
          </a:ln>
        </p:spPr>
      </p:sp>
      <p:sp>
        <p:nvSpPr>
          <p:cNvPr id="18" name="Shape 16"/>
          <p:cNvSpPr/>
          <p:nvPr/>
        </p:nvSpPr>
        <p:spPr>
          <a:xfrm>
            <a:off x="6473952" y="365760"/>
            <a:ext cx="566928" cy="566928"/>
          </a:xfrm>
          <a:prstGeom prst="rect">
            <a:avLst/>
          </a:prstGeom>
          <a:solidFill>
            <a:srgbClr val="D4AF37">
              <a:alpha val="7000"/>
            </a:srgbClr>
          </a:solidFill>
          <a:ln w="3175">
            <a:solidFill>
              <a:srgbClr val="D4AF37">
                <a:alpha val="10000"/>
              </a:srgbClr>
            </a:solidFill>
            <a:prstDash val="solid"/>
          </a:ln>
        </p:spPr>
      </p:sp>
      <p:sp>
        <p:nvSpPr>
          <p:cNvPr id="19" name="Shape 17"/>
          <p:cNvSpPr/>
          <p:nvPr/>
        </p:nvSpPr>
        <p:spPr>
          <a:xfrm>
            <a:off x="6473952" y="1499616"/>
            <a:ext cx="566928" cy="566928"/>
          </a:xfrm>
          <a:prstGeom prst="rect">
            <a:avLst/>
          </a:prstGeom>
          <a:solidFill>
            <a:srgbClr val="D4AF37">
              <a:alpha val="7000"/>
            </a:srgbClr>
          </a:solidFill>
          <a:ln w="3175">
            <a:solidFill>
              <a:srgbClr val="D4AF37">
                <a:alpha val="10000"/>
              </a:srgbClr>
            </a:solidFill>
            <a:prstDash val="solid"/>
          </a:ln>
        </p:spPr>
      </p:sp>
      <p:sp>
        <p:nvSpPr>
          <p:cNvPr id="20" name="Shape 18"/>
          <p:cNvSpPr/>
          <p:nvPr/>
        </p:nvSpPr>
        <p:spPr>
          <a:xfrm>
            <a:off x="6473952" y="2633472"/>
            <a:ext cx="566928" cy="566928"/>
          </a:xfrm>
          <a:prstGeom prst="rect">
            <a:avLst/>
          </a:prstGeom>
          <a:solidFill>
            <a:srgbClr val="D4AF37">
              <a:alpha val="7000"/>
            </a:srgbClr>
          </a:solidFill>
          <a:ln w="3175">
            <a:solidFill>
              <a:srgbClr val="D4AF37">
                <a:alpha val="10000"/>
              </a:srgbClr>
            </a:solidFill>
            <a:prstDash val="solid"/>
          </a:ln>
        </p:spPr>
      </p:sp>
      <p:sp>
        <p:nvSpPr>
          <p:cNvPr id="21" name="Shape 19"/>
          <p:cNvSpPr/>
          <p:nvPr/>
        </p:nvSpPr>
        <p:spPr>
          <a:xfrm>
            <a:off x="6473952" y="3767328"/>
            <a:ext cx="566928" cy="566928"/>
          </a:xfrm>
          <a:prstGeom prst="rect">
            <a:avLst/>
          </a:prstGeom>
          <a:solidFill>
            <a:srgbClr val="D4AF37">
              <a:alpha val="7000"/>
            </a:srgbClr>
          </a:solidFill>
          <a:ln w="3175">
            <a:solidFill>
              <a:srgbClr val="D4AF37">
                <a:alpha val="10000"/>
              </a:srgbClr>
            </a:solidFill>
            <a:prstDash val="solid"/>
          </a:ln>
        </p:spPr>
      </p:sp>
      <p:sp>
        <p:nvSpPr>
          <p:cNvPr id="22" name="Shape 20"/>
          <p:cNvSpPr/>
          <p:nvPr/>
        </p:nvSpPr>
        <p:spPr>
          <a:xfrm>
            <a:off x="7040880" y="932688"/>
            <a:ext cx="566928" cy="566928"/>
          </a:xfrm>
          <a:prstGeom prst="rect">
            <a:avLst/>
          </a:prstGeom>
          <a:solidFill>
            <a:srgbClr val="D4AF37">
              <a:alpha val="7000"/>
            </a:srgbClr>
          </a:solidFill>
          <a:ln w="3175">
            <a:solidFill>
              <a:srgbClr val="D4AF37">
                <a:alpha val="10000"/>
              </a:srgbClr>
            </a:solidFill>
            <a:prstDash val="solid"/>
          </a:ln>
        </p:spPr>
      </p:sp>
      <p:sp>
        <p:nvSpPr>
          <p:cNvPr id="23" name="Shape 21"/>
          <p:cNvSpPr/>
          <p:nvPr/>
        </p:nvSpPr>
        <p:spPr>
          <a:xfrm>
            <a:off x="7040880" y="2066544"/>
            <a:ext cx="566928" cy="566928"/>
          </a:xfrm>
          <a:prstGeom prst="rect">
            <a:avLst/>
          </a:prstGeom>
          <a:solidFill>
            <a:srgbClr val="D4AF37">
              <a:alpha val="7000"/>
            </a:srgbClr>
          </a:solidFill>
          <a:ln w="3175">
            <a:solidFill>
              <a:srgbClr val="D4AF37">
                <a:alpha val="10000"/>
              </a:srgbClr>
            </a:solidFill>
            <a:prstDash val="solid"/>
          </a:ln>
        </p:spPr>
      </p:sp>
      <p:sp>
        <p:nvSpPr>
          <p:cNvPr id="24" name="Shape 22"/>
          <p:cNvSpPr/>
          <p:nvPr/>
        </p:nvSpPr>
        <p:spPr>
          <a:xfrm>
            <a:off x="7040880" y="3200400"/>
            <a:ext cx="566928" cy="566928"/>
          </a:xfrm>
          <a:prstGeom prst="rect">
            <a:avLst/>
          </a:prstGeom>
          <a:solidFill>
            <a:srgbClr val="D4AF37">
              <a:alpha val="7000"/>
            </a:srgbClr>
          </a:solidFill>
          <a:ln w="3175">
            <a:solidFill>
              <a:srgbClr val="D4AF37">
                <a:alpha val="10000"/>
              </a:srgbClr>
            </a:solidFill>
            <a:prstDash val="solid"/>
          </a:ln>
        </p:spPr>
      </p:sp>
      <p:sp>
        <p:nvSpPr>
          <p:cNvPr id="25" name="Shape 23"/>
          <p:cNvSpPr/>
          <p:nvPr/>
        </p:nvSpPr>
        <p:spPr>
          <a:xfrm>
            <a:off x="7040880" y="4334256"/>
            <a:ext cx="566928" cy="566928"/>
          </a:xfrm>
          <a:prstGeom prst="rect">
            <a:avLst/>
          </a:prstGeom>
          <a:solidFill>
            <a:srgbClr val="D4AF37">
              <a:alpha val="7000"/>
            </a:srgbClr>
          </a:solidFill>
          <a:ln w="3175">
            <a:solidFill>
              <a:srgbClr val="D4AF37">
                <a:alpha val="10000"/>
              </a:srgbClr>
            </a:solidFill>
            <a:prstDash val="solid"/>
          </a:ln>
        </p:spPr>
      </p:sp>
      <p:sp>
        <p:nvSpPr>
          <p:cNvPr id="26" name="Shape 24"/>
          <p:cNvSpPr/>
          <p:nvPr/>
        </p:nvSpPr>
        <p:spPr>
          <a:xfrm>
            <a:off x="7607808" y="365760"/>
            <a:ext cx="566928" cy="566928"/>
          </a:xfrm>
          <a:prstGeom prst="rect">
            <a:avLst/>
          </a:prstGeom>
          <a:solidFill>
            <a:srgbClr val="D4AF37">
              <a:alpha val="7000"/>
            </a:srgbClr>
          </a:solidFill>
          <a:ln w="3175">
            <a:solidFill>
              <a:srgbClr val="D4AF37">
                <a:alpha val="10000"/>
              </a:srgbClr>
            </a:solidFill>
            <a:prstDash val="solid"/>
          </a:ln>
        </p:spPr>
      </p:sp>
      <p:sp>
        <p:nvSpPr>
          <p:cNvPr id="27" name="Shape 25"/>
          <p:cNvSpPr/>
          <p:nvPr/>
        </p:nvSpPr>
        <p:spPr>
          <a:xfrm>
            <a:off x="7607808" y="1499616"/>
            <a:ext cx="566928" cy="566928"/>
          </a:xfrm>
          <a:prstGeom prst="rect">
            <a:avLst/>
          </a:prstGeom>
          <a:solidFill>
            <a:srgbClr val="D4AF37">
              <a:alpha val="7000"/>
            </a:srgbClr>
          </a:solidFill>
          <a:ln w="3175">
            <a:solidFill>
              <a:srgbClr val="D4AF37">
                <a:alpha val="10000"/>
              </a:srgbClr>
            </a:solidFill>
            <a:prstDash val="solid"/>
          </a:ln>
        </p:spPr>
      </p:sp>
      <p:sp>
        <p:nvSpPr>
          <p:cNvPr id="28" name="Shape 26"/>
          <p:cNvSpPr/>
          <p:nvPr/>
        </p:nvSpPr>
        <p:spPr>
          <a:xfrm>
            <a:off x="7607808" y="2633472"/>
            <a:ext cx="566928" cy="566928"/>
          </a:xfrm>
          <a:prstGeom prst="rect">
            <a:avLst/>
          </a:prstGeom>
          <a:solidFill>
            <a:srgbClr val="D4AF37">
              <a:alpha val="7000"/>
            </a:srgbClr>
          </a:solidFill>
          <a:ln w="3175">
            <a:solidFill>
              <a:srgbClr val="D4AF37">
                <a:alpha val="10000"/>
              </a:srgbClr>
            </a:solidFill>
            <a:prstDash val="solid"/>
          </a:ln>
        </p:spPr>
      </p:sp>
      <p:sp>
        <p:nvSpPr>
          <p:cNvPr id="29" name="Shape 27"/>
          <p:cNvSpPr/>
          <p:nvPr/>
        </p:nvSpPr>
        <p:spPr>
          <a:xfrm>
            <a:off x="7607808" y="3767328"/>
            <a:ext cx="566928" cy="566928"/>
          </a:xfrm>
          <a:prstGeom prst="rect">
            <a:avLst/>
          </a:prstGeom>
          <a:solidFill>
            <a:srgbClr val="D4AF37">
              <a:alpha val="7000"/>
            </a:srgbClr>
          </a:solidFill>
          <a:ln w="3175">
            <a:solidFill>
              <a:srgbClr val="D4AF37">
                <a:alpha val="10000"/>
              </a:srgbClr>
            </a:solidFill>
            <a:prstDash val="solid"/>
          </a:ln>
        </p:spPr>
      </p:sp>
      <p:sp>
        <p:nvSpPr>
          <p:cNvPr id="30" name="Shape 28"/>
          <p:cNvSpPr/>
          <p:nvPr/>
        </p:nvSpPr>
        <p:spPr>
          <a:xfrm>
            <a:off x="8174736" y="932688"/>
            <a:ext cx="566928" cy="566928"/>
          </a:xfrm>
          <a:prstGeom prst="rect">
            <a:avLst/>
          </a:prstGeom>
          <a:solidFill>
            <a:srgbClr val="D4AF37">
              <a:alpha val="7000"/>
            </a:srgbClr>
          </a:solidFill>
          <a:ln w="3175">
            <a:solidFill>
              <a:srgbClr val="D4AF37">
                <a:alpha val="10000"/>
              </a:srgbClr>
            </a:solidFill>
            <a:prstDash val="solid"/>
          </a:ln>
        </p:spPr>
      </p:sp>
      <p:sp>
        <p:nvSpPr>
          <p:cNvPr id="31" name="Shape 29"/>
          <p:cNvSpPr/>
          <p:nvPr/>
        </p:nvSpPr>
        <p:spPr>
          <a:xfrm>
            <a:off x="8174736" y="2066544"/>
            <a:ext cx="566928" cy="566928"/>
          </a:xfrm>
          <a:prstGeom prst="rect">
            <a:avLst/>
          </a:prstGeom>
          <a:solidFill>
            <a:srgbClr val="D4AF37">
              <a:alpha val="7000"/>
            </a:srgbClr>
          </a:solidFill>
          <a:ln w="3175">
            <a:solidFill>
              <a:srgbClr val="D4AF37">
                <a:alpha val="10000"/>
              </a:srgbClr>
            </a:solidFill>
            <a:prstDash val="solid"/>
          </a:ln>
        </p:spPr>
      </p:sp>
      <p:sp>
        <p:nvSpPr>
          <p:cNvPr id="32" name="Shape 30"/>
          <p:cNvSpPr/>
          <p:nvPr/>
        </p:nvSpPr>
        <p:spPr>
          <a:xfrm>
            <a:off x="8174736" y="3200400"/>
            <a:ext cx="566928" cy="566928"/>
          </a:xfrm>
          <a:prstGeom prst="rect">
            <a:avLst/>
          </a:prstGeom>
          <a:solidFill>
            <a:srgbClr val="D4AF37">
              <a:alpha val="7000"/>
            </a:srgbClr>
          </a:solidFill>
          <a:ln w="3175">
            <a:solidFill>
              <a:srgbClr val="D4AF37">
                <a:alpha val="10000"/>
              </a:srgbClr>
            </a:solidFill>
            <a:prstDash val="solid"/>
          </a:ln>
        </p:spPr>
      </p:sp>
      <p:sp>
        <p:nvSpPr>
          <p:cNvPr id="33" name="Shape 31"/>
          <p:cNvSpPr/>
          <p:nvPr/>
        </p:nvSpPr>
        <p:spPr>
          <a:xfrm>
            <a:off x="8174736" y="4334256"/>
            <a:ext cx="566928" cy="566928"/>
          </a:xfrm>
          <a:prstGeom prst="rect">
            <a:avLst/>
          </a:prstGeom>
          <a:solidFill>
            <a:srgbClr val="D4AF37">
              <a:alpha val="7000"/>
            </a:srgbClr>
          </a:solidFill>
          <a:ln w="3175">
            <a:solidFill>
              <a:srgbClr val="D4AF37">
                <a:alpha val="10000"/>
              </a:srgbClr>
            </a:solidFill>
            <a:prstDash val="solid"/>
          </a:ln>
        </p:spPr>
      </p:sp>
      <p:sp>
        <p:nvSpPr>
          <p:cNvPr id="51" name="Text 49"/>
          <p:cNvSpPr txBox="1"/>
          <p:nvPr/>
        </p:nvSpPr>
        <p:spPr>
          <a:xfrm>
            <a:off x="452628" y="219456"/>
            <a:ext cx="3483864" cy="822960"/>
          </a:xfrm>
          <a:prstGeom prst="rect">
            <a:avLst/>
          </a:prstGeom>
          <a:noFill/>
          <a:ln/>
        </p:spPr>
        <p:txBody>
          <a:bodyPr wrap="square" lIns="0" tIns="0" rIns="0" bIns="0" rtlCol="0" anchor="ctr"/>
          <a:lstStyle/>
          <a:p>
            <a:pPr marL="0" indent="0">
              <a:buNone/>
            </a:pPr>
            <a:r>
              <a:rPr lang="en-US" sz="3200" b="1" kern="0" spc="300" dirty="0">
                <a:solidFill>
                  <a:srgbClr val="FFFFFF"/>
                </a:solidFill>
                <a:latin typeface="Poppins" pitchFamily="34" charset="0"/>
                <a:ea typeface="Poppins" pitchFamily="34" charset="-122"/>
                <a:cs typeface="Poppins" pitchFamily="34" charset="-120"/>
              </a:rPr>
              <a:t>CHESS EVOLVE</a:t>
            </a:r>
            <a:endParaRPr lang="en-US" sz="3200" dirty="0"/>
          </a:p>
        </p:txBody>
      </p:sp>
      <p:sp>
        <p:nvSpPr>
          <p:cNvPr id="52" name="Shape 50"/>
          <p:cNvSpPr/>
          <p:nvPr/>
        </p:nvSpPr>
        <p:spPr>
          <a:xfrm>
            <a:off x="544983" y="1042416"/>
            <a:ext cx="1876348" cy="0"/>
          </a:xfrm>
          <a:prstGeom prst="line">
            <a:avLst/>
          </a:prstGeom>
          <a:noFill/>
          <a:ln w="25400">
            <a:solidFill>
              <a:srgbClr val="D4AF37"/>
            </a:solidFill>
            <a:prstDash val="solid"/>
          </a:ln>
        </p:spPr>
        <p:txBody>
          <a:bodyPr/>
          <a:lstStyle/>
          <a:p>
            <a:endParaRPr lang="en-IN" dirty="0"/>
          </a:p>
        </p:txBody>
      </p:sp>
      <p:sp>
        <p:nvSpPr>
          <p:cNvPr id="53" name="Text 51"/>
          <p:cNvSpPr txBox="1"/>
          <p:nvPr/>
        </p:nvSpPr>
        <p:spPr>
          <a:xfrm>
            <a:off x="544983" y="1239926"/>
            <a:ext cx="2615184" cy="548640"/>
          </a:xfrm>
          <a:prstGeom prst="rect">
            <a:avLst/>
          </a:prstGeom>
          <a:noFill/>
          <a:ln/>
        </p:spPr>
        <p:txBody>
          <a:bodyPr wrap="square" lIns="0" tIns="0" rIns="0" bIns="0" rtlCol="0" anchor="ctr"/>
          <a:lstStyle/>
          <a:p>
            <a:pPr marL="0" indent="0">
              <a:buNone/>
            </a:pPr>
            <a:r>
              <a:rPr lang="en-US" sz="1400" dirty="0">
                <a:solidFill>
                  <a:srgbClr val="D4AF37"/>
                </a:solidFill>
                <a:latin typeface="Poppins" pitchFamily="34" charset="0"/>
                <a:ea typeface="Poppins" pitchFamily="34" charset="-122"/>
                <a:cs typeface="Poppins" pitchFamily="34" charset="-120"/>
              </a:rPr>
              <a:t>Personalized Chess AI That Learns and Evolves With You</a:t>
            </a:r>
            <a:endParaRPr lang="en-US" sz="1400" dirty="0"/>
          </a:p>
        </p:txBody>
      </p:sp>
      <p:sp>
        <p:nvSpPr>
          <p:cNvPr id="54" name="Text 52"/>
          <p:cNvSpPr txBox="1"/>
          <p:nvPr/>
        </p:nvSpPr>
        <p:spPr>
          <a:xfrm>
            <a:off x="544983" y="2099920"/>
            <a:ext cx="4572000" cy="548640"/>
          </a:xfrm>
          <a:prstGeom prst="rect">
            <a:avLst/>
          </a:prstGeom>
          <a:noFill/>
          <a:ln/>
        </p:spPr>
        <p:txBody>
          <a:bodyPr wrap="square" lIns="0" tIns="0" rIns="0" bIns="0" rtlCol="0" anchor="t"/>
          <a:lstStyle/>
          <a:p>
            <a:pPr marL="0" indent="0">
              <a:buNone/>
            </a:pPr>
            <a:r>
              <a:rPr lang="en-US" sz="900" dirty="0">
                <a:solidFill>
                  <a:srgbClr val="8A8F98"/>
                </a:solidFill>
                <a:latin typeface="Poppins" pitchFamily="34" charset="0"/>
                <a:ea typeface="Poppins" pitchFamily="34" charset="-122"/>
                <a:cs typeface="Poppins" pitchFamily="34" charset="-120"/>
              </a:rPr>
              <a:t>NAME : Deepak Sabarirajan M</a:t>
            </a:r>
          </a:p>
          <a:p>
            <a:pPr marL="0" indent="0">
              <a:buNone/>
            </a:pPr>
            <a:r>
              <a:rPr lang="en-US" sz="900" dirty="0">
                <a:solidFill>
                  <a:srgbClr val="8A8F98"/>
                </a:solidFill>
                <a:latin typeface="Poppins" pitchFamily="34" charset="0"/>
                <a:ea typeface="Poppins" pitchFamily="34" charset="-122"/>
                <a:cs typeface="Poppins" pitchFamily="34" charset="-120"/>
              </a:rPr>
              <a:t>Dept : CSE </a:t>
            </a:r>
          </a:p>
          <a:p>
            <a:pPr marL="0" indent="0">
              <a:buNone/>
            </a:pPr>
            <a:r>
              <a:rPr lang="en-US" sz="900" dirty="0">
                <a:solidFill>
                  <a:srgbClr val="8A8F98"/>
                </a:solidFill>
                <a:latin typeface="Poppins" pitchFamily="34" charset="0"/>
                <a:cs typeface="Poppins" pitchFamily="34" charset="-120"/>
              </a:rPr>
              <a:t>Reg No : 312424104051</a:t>
            </a:r>
            <a:endParaRPr lang="en-US" sz="900" dirty="0"/>
          </a:p>
        </p:txBody>
      </p:sp>
      <p:pic>
        <p:nvPicPr>
          <p:cNvPr id="57" name="Picture 56">
            <a:extLst>
              <a:ext uri="{FF2B5EF4-FFF2-40B4-BE49-F238E27FC236}">
                <a16:creationId xmlns:a16="http://schemas.microsoft.com/office/drawing/2014/main" id="{53D4EB55-1AFF-60EA-7F53-B4E8F48DDC8F}"/>
              </a:ext>
            </a:extLst>
          </p:cNvPr>
          <p:cNvPicPr>
            <a:picLocks noChangeAspect="1"/>
          </p:cNvPicPr>
          <p:nvPr/>
        </p:nvPicPr>
        <p:blipFill>
          <a:blip r:embed="rId3"/>
          <a:stretch>
            <a:fillRect/>
          </a:stretch>
        </p:blipFill>
        <p:spPr>
          <a:xfrm>
            <a:off x="1238535" y="3200400"/>
            <a:ext cx="1729169" cy="1673131"/>
          </a:xfrm>
          <a:prstGeom prst="rect">
            <a:avLst/>
          </a:prstGeom>
        </p:spPr>
      </p:pic>
      <p:sp>
        <p:nvSpPr>
          <p:cNvPr id="59" name="TextBox 58">
            <a:extLst>
              <a:ext uri="{FF2B5EF4-FFF2-40B4-BE49-F238E27FC236}">
                <a16:creationId xmlns:a16="http://schemas.microsoft.com/office/drawing/2014/main" id="{CF720F6D-05B4-46FE-498C-99607D42A89A}"/>
              </a:ext>
            </a:extLst>
          </p:cNvPr>
          <p:cNvSpPr txBox="1"/>
          <p:nvPr/>
        </p:nvSpPr>
        <p:spPr>
          <a:xfrm>
            <a:off x="544983" y="2832838"/>
            <a:ext cx="1162498" cy="230832"/>
          </a:xfrm>
          <a:prstGeom prst="rect">
            <a:avLst/>
          </a:prstGeom>
          <a:noFill/>
        </p:spPr>
        <p:txBody>
          <a:bodyPr wrap="none" rtlCol="0">
            <a:spAutoFit/>
          </a:bodyPr>
          <a:lstStyle/>
          <a:p>
            <a:r>
              <a:rPr lang="en-IN" sz="900" dirty="0">
                <a:solidFill>
                  <a:schemeClr val="bg1">
                    <a:lumMod val="65000"/>
                  </a:schemeClr>
                </a:solidFill>
                <a:latin typeface="+mj-lt"/>
              </a:rPr>
              <a:t>Our Community :</a:t>
            </a:r>
          </a:p>
        </p:txBody>
      </p:sp>
      <p:pic>
        <p:nvPicPr>
          <p:cNvPr id="69" name="Picture 68">
            <a:extLst>
              <a:ext uri="{FF2B5EF4-FFF2-40B4-BE49-F238E27FC236}">
                <a16:creationId xmlns:a16="http://schemas.microsoft.com/office/drawing/2014/main" id="{6C9D1E6E-EE1A-4684-EB1C-4409F083AEA9}"/>
              </a:ext>
            </a:extLst>
          </p:cNvPr>
          <p:cNvPicPr>
            <a:picLocks noChangeAspect="1"/>
          </p:cNvPicPr>
          <p:nvPr/>
        </p:nvPicPr>
        <p:blipFill>
          <a:blip r:embed="rId4"/>
          <a:stretch>
            <a:fillRect/>
          </a:stretch>
        </p:blipFill>
        <p:spPr>
          <a:xfrm rot="1031950">
            <a:off x="5554208" y="630935"/>
            <a:ext cx="2229889" cy="3856397"/>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D"/>
        </a:solidFill>
        <a:effectLst/>
      </p:bgPr>
    </p:bg>
    <p:spTree>
      <p:nvGrpSpPr>
        <p:cNvPr id="1" name=""/>
        <p:cNvGrpSpPr/>
        <p:nvPr/>
      </p:nvGrpSpPr>
      <p:grpSpPr>
        <a:xfrm>
          <a:off x="0" y="0"/>
          <a:ext cx="0" cy="0"/>
          <a:chOff x="0" y="0"/>
          <a:chExt cx="0" cy="0"/>
        </a:xfrm>
      </p:grpSpPr>
      <p:sp>
        <p:nvSpPr>
          <p:cNvPr id="2" name="Shape 0"/>
          <p:cNvSpPr/>
          <p:nvPr/>
        </p:nvSpPr>
        <p:spPr>
          <a:xfrm>
            <a:off x="6309360" y="2834640"/>
            <a:ext cx="457200" cy="457200"/>
          </a:xfrm>
          <a:prstGeom prst="rect">
            <a:avLst/>
          </a:prstGeom>
          <a:solidFill>
            <a:srgbClr val="D4AF37">
              <a:alpha val="4000"/>
            </a:srgbClr>
          </a:solidFill>
          <a:ln w="3175">
            <a:solidFill>
              <a:srgbClr val="D4AF37">
                <a:alpha val="10000"/>
              </a:srgbClr>
            </a:solidFill>
            <a:prstDash val="solid"/>
          </a:ln>
        </p:spPr>
      </p:sp>
      <p:sp>
        <p:nvSpPr>
          <p:cNvPr id="3" name="Shape 1"/>
          <p:cNvSpPr/>
          <p:nvPr/>
        </p:nvSpPr>
        <p:spPr>
          <a:xfrm>
            <a:off x="6309360" y="3749040"/>
            <a:ext cx="457200" cy="457200"/>
          </a:xfrm>
          <a:prstGeom prst="rect">
            <a:avLst/>
          </a:prstGeom>
          <a:solidFill>
            <a:srgbClr val="D4AF37">
              <a:alpha val="4000"/>
            </a:srgbClr>
          </a:solidFill>
          <a:ln w="3175">
            <a:solidFill>
              <a:srgbClr val="D4AF37">
                <a:alpha val="10000"/>
              </a:srgbClr>
            </a:solidFill>
            <a:prstDash val="solid"/>
          </a:ln>
        </p:spPr>
      </p:sp>
      <p:sp>
        <p:nvSpPr>
          <p:cNvPr id="4" name="Shape 2"/>
          <p:cNvSpPr/>
          <p:nvPr/>
        </p:nvSpPr>
        <p:spPr>
          <a:xfrm>
            <a:off x="6309360" y="4663440"/>
            <a:ext cx="457200" cy="457200"/>
          </a:xfrm>
          <a:prstGeom prst="rect">
            <a:avLst/>
          </a:prstGeom>
          <a:solidFill>
            <a:srgbClr val="D4AF37">
              <a:alpha val="4000"/>
            </a:srgbClr>
          </a:solidFill>
          <a:ln w="3175">
            <a:solidFill>
              <a:srgbClr val="D4AF37">
                <a:alpha val="10000"/>
              </a:srgbClr>
            </a:solidFill>
            <a:prstDash val="solid"/>
          </a:ln>
        </p:spPr>
      </p:sp>
      <p:sp>
        <p:nvSpPr>
          <p:cNvPr id="5" name="Shape 3"/>
          <p:cNvSpPr/>
          <p:nvPr/>
        </p:nvSpPr>
        <p:spPr>
          <a:xfrm>
            <a:off x="6766560" y="3291840"/>
            <a:ext cx="457200" cy="457200"/>
          </a:xfrm>
          <a:prstGeom prst="rect">
            <a:avLst/>
          </a:prstGeom>
          <a:solidFill>
            <a:srgbClr val="D4AF37">
              <a:alpha val="4000"/>
            </a:srgbClr>
          </a:solidFill>
          <a:ln w="3175">
            <a:solidFill>
              <a:srgbClr val="D4AF37">
                <a:alpha val="10000"/>
              </a:srgbClr>
            </a:solidFill>
            <a:prstDash val="solid"/>
          </a:ln>
        </p:spPr>
      </p:sp>
      <p:sp>
        <p:nvSpPr>
          <p:cNvPr id="6" name="Shape 4"/>
          <p:cNvSpPr/>
          <p:nvPr/>
        </p:nvSpPr>
        <p:spPr>
          <a:xfrm>
            <a:off x="6766560" y="4206240"/>
            <a:ext cx="457200" cy="457200"/>
          </a:xfrm>
          <a:prstGeom prst="rect">
            <a:avLst/>
          </a:prstGeom>
          <a:solidFill>
            <a:srgbClr val="D4AF37">
              <a:alpha val="4000"/>
            </a:srgbClr>
          </a:solidFill>
          <a:ln w="3175">
            <a:solidFill>
              <a:srgbClr val="D4AF37">
                <a:alpha val="10000"/>
              </a:srgbClr>
            </a:solidFill>
            <a:prstDash val="solid"/>
          </a:ln>
        </p:spPr>
      </p:sp>
      <p:sp>
        <p:nvSpPr>
          <p:cNvPr id="7" name="Shape 5"/>
          <p:cNvSpPr/>
          <p:nvPr/>
        </p:nvSpPr>
        <p:spPr>
          <a:xfrm>
            <a:off x="6766560" y="5120640"/>
            <a:ext cx="457200" cy="457200"/>
          </a:xfrm>
          <a:prstGeom prst="rect">
            <a:avLst/>
          </a:prstGeom>
          <a:solidFill>
            <a:srgbClr val="D4AF37">
              <a:alpha val="4000"/>
            </a:srgbClr>
          </a:solidFill>
          <a:ln w="3175">
            <a:solidFill>
              <a:srgbClr val="D4AF37">
                <a:alpha val="10000"/>
              </a:srgbClr>
            </a:solidFill>
            <a:prstDash val="solid"/>
          </a:ln>
        </p:spPr>
      </p:sp>
      <p:sp>
        <p:nvSpPr>
          <p:cNvPr id="8" name="Shape 6"/>
          <p:cNvSpPr/>
          <p:nvPr/>
        </p:nvSpPr>
        <p:spPr>
          <a:xfrm>
            <a:off x="7223760" y="2834640"/>
            <a:ext cx="457200" cy="457200"/>
          </a:xfrm>
          <a:prstGeom prst="rect">
            <a:avLst/>
          </a:prstGeom>
          <a:solidFill>
            <a:srgbClr val="D4AF37">
              <a:alpha val="4000"/>
            </a:srgbClr>
          </a:solidFill>
          <a:ln w="3175">
            <a:solidFill>
              <a:srgbClr val="D4AF37">
                <a:alpha val="10000"/>
              </a:srgbClr>
            </a:solidFill>
            <a:prstDash val="solid"/>
          </a:ln>
        </p:spPr>
      </p:sp>
      <p:sp>
        <p:nvSpPr>
          <p:cNvPr id="9" name="Shape 7"/>
          <p:cNvSpPr/>
          <p:nvPr/>
        </p:nvSpPr>
        <p:spPr>
          <a:xfrm>
            <a:off x="7223760" y="3749040"/>
            <a:ext cx="457200" cy="457200"/>
          </a:xfrm>
          <a:prstGeom prst="rect">
            <a:avLst/>
          </a:prstGeom>
          <a:solidFill>
            <a:srgbClr val="D4AF37">
              <a:alpha val="4000"/>
            </a:srgbClr>
          </a:solidFill>
          <a:ln w="3175">
            <a:solidFill>
              <a:srgbClr val="D4AF37">
                <a:alpha val="10000"/>
              </a:srgbClr>
            </a:solidFill>
            <a:prstDash val="solid"/>
          </a:ln>
        </p:spPr>
      </p:sp>
      <p:sp>
        <p:nvSpPr>
          <p:cNvPr id="10" name="Shape 8"/>
          <p:cNvSpPr/>
          <p:nvPr/>
        </p:nvSpPr>
        <p:spPr>
          <a:xfrm>
            <a:off x="7223760" y="4663440"/>
            <a:ext cx="457200" cy="457200"/>
          </a:xfrm>
          <a:prstGeom prst="rect">
            <a:avLst/>
          </a:prstGeom>
          <a:solidFill>
            <a:srgbClr val="D4AF37">
              <a:alpha val="4000"/>
            </a:srgbClr>
          </a:solidFill>
          <a:ln w="3175">
            <a:solidFill>
              <a:srgbClr val="D4AF37">
                <a:alpha val="10000"/>
              </a:srgbClr>
            </a:solidFill>
            <a:prstDash val="solid"/>
          </a:ln>
        </p:spPr>
      </p:sp>
      <p:sp>
        <p:nvSpPr>
          <p:cNvPr id="11" name="Shape 9"/>
          <p:cNvSpPr/>
          <p:nvPr/>
        </p:nvSpPr>
        <p:spPr>
          <a:xfrm>
            <a:off x="7680960" y="3291840"/>
            <a:ext cx="457200" cy="457200"/>
          </a:xfrm>
          <a:prstGeom prst="rect">
            <a:avLst/>
          </a:prstGeom>
          <a:solidFill>
            <a:srgbClr val="D4AF37">
              <a:alpha val="4000"/>
            </a:srgbClr>
          </a:solidFill>
          <a:ln w="3175">
            <a:solidFill>
              <a:srgbClr val="D4AF37">
                <a:alpha val="10000"/>
              </a:srgbClr>
            </a:solidFill>
            <a:prstDash val="solid"/>
          </a:ln>
        </p:spPr>
      </p:sp>
      <p:sp>
        <p:nvSpPr>
          <p:cNvPr id="12" name="Shape 10"/>
          <p:cNvSpPr/>
          <p:nvPr/>
        </p:nvSpPr>
        <p:spPr>
          <a:xfrm>
            <a:off x="7680960" y="4206240"/>
            <a:ext cx="457200" cy="457200"/>
          </a:xfrm>
          <a:prstGeom prst="rect">
            <a:avLst/>
          </a:prstGeom>
          <a:solidFill>
            <a:srgbClr val="D4AF37">
              <a:alpha val="4000"/>
            </a:srgbClr>
          </a:solidFill>
          <a:ln w="3175">
            <a:solidFill>
              <a:srgbClr val="D4AF37">
                <a:alpha val="10000"/>
              </a:srgbClr>
            </a:solidFill>
            <a:prstDash val="solid"/>
          </a:ln>
        </p:spPr>
      </p:sp>
      <p:sp>
        <p:nvSpPr>
          <p:cNvPr id="13" name="Shape 11"/>
          <p:cNvSpPr/>
          <p:nvPr/>
        </p:nvSpPr>
        <p:spPr>
          <a:xfrm>
            <a:off x="7680960" y="5120640"/>
            <a:ext cx="457200" cy="457200"/>
          </a:xfrm>
          <a:prstGeom prst="rect">
            <a:avLst/>
          </a:prstGeom>
          <a:solidFill>
            <a:srgbClr val="D4AF37">
              <a:alpha val="4000"/>
            </a:srgbClr>
          </a:solidFill>
          <a:ln w="3175">
            <a:solidFill>
              <a:srgbClr val="D4AF37">
                <a:alpha val="10000"/>
              </a:srgbClr>
            </a:solidFill>
            <a:prstDash val="solid"/>
          </a:ln>
        </p:spPr>
      </p:sp>
      <p:sp>
        <p:nvSpPr>
          <p:cNvPr id="14" name="Shape 12"/>
          <p:cNvSpPr/>
          <p:nvPr/>
        </p:nvSpPr>
        <p:spPr>
          <a:xfrm>
            <a:off x="8138160" y="2834640"/>
            <a:ext cx="457200" cy="457200"/>
          </a:xfrm>
          <a:prstGeom prst="rect">
            <a:avLst/>
          </a:prstGeom>
          <a:solidFill>
            <a:srgbClr val="D4AF37">
              <a:alpha val="4000"/>
            </a:srgbClr>
          </a:solidFill>
          <a:ln w="3175">
            <a:solidFill>
              <a:srgbClr val="D4AF37">
                <a:alpha val="10000"/>
              </a:srgbClr>
            </a:solidFill>
            <a:prstDash val="solid"/>
          </a:ln>
        </p:spPr>
      </p:sp>
      <p:sp>
        <p:nvSpPr>
          <p:cNvPr id="15" name="Shape 13"/>
          <p:cNvSpPr/>
          <p:nvPr/>
        </p:nvSpPr>
        <p:spPr>
          <a:xfrm>
            <a:off x="8138160" y="3749040"/>
            <a:ext cx="457200" cy="457200"/>
          </a:xfrm>
          <a:prstGeom prst="rect">
            <a:avLst/>
          </a:prstGeom>
          <a:solidFill>
            <a:srgbClr val="D4AF37">
              <a:alpha val="4000"/>
            </a:srgbClr>
          </a:solidFill>
          <a:ln w="3175">
            <a:solidFill>
              <a:srgbClr val="D4AF37">
                <a:alpha val="10000"/>
              </a:srgbClr>
            </a:solidFill>
            <a:prstDash val="solid"/>
          </a:ln>
        </p:spPr>
      </p:sp>
      <p:sp>
        <p:nvSpPr>
          <p:cNvPr id="16" name="Shape 14"/>
          <p:cNvSpPr/>
          <p:nvPr/>
        </p:nvSpPr>
        <p:spPr>
          <a:xfrm>
            <a:off x="8138160" y="4663440"/>
            <a:ext cx="457200" cy="457200"/>
          </a:xfrm>
          <a:prstGeom prst="rect">
            <a:avLst/>
          </a:prstGeom>
          <a:solidFill>
            <a:srgbClr val="D4AF37">
              <a:alpha val="4000"/>
            </a:srgbClr>
          </a:solidFill>
          <a:ln w="3175">
            <a:solidFill>
              <a:srgbClr val="D4AF37">
                <a:alpha val="10000"/>
              </a:srgbClr>
            </a:solidFill>
            <a:prstDash val="solid"/>
          </a:ln>
        </p:spPr>
      </p:sp>
      <p:sp>
        <p:nvSpPr>
          <p:cNvPr id="17" name="Shape 15"/>
          <p:cNvSpPr/>
          <p:nvPr/>
        </p:nvSpPr>
        <p:spPr>
          <a:xfrm>
            <a:off x="8595360" y="3291840"/>
            <a:ext cx="457200" cy="457200"/>
          </a:xfrm>
          <a:prstGeom prst="rect">
            <a:avLst/>
          </a:prstGeom>
          <a:solidFill>
            <a:srgbClr val="D4AF37">
              <a:alpha val="4000"/>
            </a:srgbClr>
          </a:solidFill>
          <a:ln w="3175">
            <a:solidFill>
              <a:srgbClr val="D4AF37">
                <a:alpha val="10000"/>
              </a:srgbClr>
            </a:solidFill>
            <a:prstDash val="solid"/>
          </a:ln>
        </p:spPr>
      </p:sp>
      <p:sp>
        <p:nvSpPr>
          <p:cNvPr id="18" name="Shape 16"/>
          <p:cNvSpPr/>
          <p:nvPr/>
        </p:nvSpPr>
        <p:spPr>
          <a:xfrm>
            <a:off x="8595360" y="4206240"/>
            <a:ext cx="457200" cy="457200"/>
          </a:xfrm>
          <a:prstGeom prst="rect">
            <a:avLst/>
          </a:prstGeom>
          <a:solidFill>
            <a:srgbClr val="D4AF37">
              <a:alpha val="4000"/>
            </a:srgbClr>
          </a:solidFill>
          <a:ln w="3175">
            <a:solidFill>
              <a:srgbClr val="D4AF37">
                <a:alpha val="10000"/>
              </a:srgbClr>
            </a:solidFill>
            <a:prstDash val="solid"/>
          </a:ln>
        </p:spPr>
      </p:sp>
      <p:sp>
        <p:nvSpPr>
          <p:cNvPr id="19" name="Shape 17"/>
          <p:cNvSpPr/>
          <p:nvPr/>
        </p:nvSpPr>
        <p:spPr>
          <a:xfrm>
            <a:off x="8595360" y="5120640"/>
            <a:ext cx="457200" cy="457200"/>
          </a:xfrm>
          <a:prstGeom prst="rect">
            <a:avLst/>
          </a:prstGeom>
          <a:solidFill>
            <a:srgbClr val="D4AF37">
              <a:alpha val="4000"/>
            </a:srgbClr>
          </a:solidFill>
          <a:ln w="3175">
            <a:solidFill>
              <a:srgbClr val="D4AF37">
                <a:alpha val="10000"/>
              </a:srgbClr>
            </a:solidFill>
            <a:prstDash val="solid"/>
          </a:ln>
        </p:spPr>
      </p:sp>
      <p:sp>
        <p:nvSpPr>
          <p:cNvPr id="21" name="Text 19"/>
          <p:cNvSpPr txBox="1"/>
          <p:nvPr/>
        </p:nvSpPr>
        <p:spPr>
          <a:xfrm>
            <a:off x="457200" y="411480"/>
            <a:ext cx="7315200" cy="457200"/>
          </a:xfrm>
          <a:prstGeom prst="rect">
            <a:avLst/>
          </a:prstGeom>
          <a:noFill/>
          <a:ln/>
        </p:spPr>
        <p:txBody>
          <a:bodyPr wrap="square" lIns="0" tIns="0" rIns="0" bIns="0" rtlCol="0" anchor="ctr"/>
          <a:lstStyle/>
          <a:p>
            <a:pPr marL="0" indent="0">
              <a:buNone/>
            </a:pPr>
            <a:r>
              <a:rPr lang="en-US" sz="2200" b="1" dirty="0">
                <a:solidFill>
                  <a:srgbClr val="FFFFFF"/>
                </a:solidFill>
                <a:latin typeface="Poppins" pitchFamily="34" charset="0"/>
                <a:ea typeface="Poppins" pitchFamily="34" charset="-122"/>
                <a:cs typeface="Poppins" pitchFamily="34" charset="-120"/>
              </a:rPr>
              <a:t>The Problem → The Solution</a:t>
            </a:r>
            <a:endParaRPr lang="en-US" sz="2200" dirty="0"/>
          </a:p>
        </p:txBody>
      </p:sp>
      <p:sp>
        <p:nvSpPr>
          <p:cNvPr id="22" name="Shape 20"/>
          <p:cNvSpPr/>
          <p:nvPr/>
        </p:nvSpPr>
        <p:spPr>
          <a:xfrm>
            <a:off x="457200" y="384048"/>
            <a:ext cx="457200" cy="0"/>
          </a:xfrm>
          <a:prstGeom prst="line">
            <a:avLst/>
          </a:prstGeom>
          <a:noFill/>
          <a:ln w="19050">
            <a:solidFill>
              <a:srgbClr val="D4AF37"/>
            </a:solidFill>
            <a:prstDash val="solid"/>
          </a:ln>
        </p:spPr>
      </p:sp>
      <p:sp>
        <p:nvSpPr>
          <p:cNvPr id="23" name="Text 21"/>
          <p:cNvSpPr txBox="1"/>
          <p:nvPr/>
        </p:nvSpPr>
        <p:spPr>
          <a:xfrm>
            <a:off x="457200" y="1051560"/>
            <a:ext cx="3657600" cy="228600"/>
          </a:xfrm>
          <a:prstGeom prst="rect">
            <a:avLst/>
          </a:prstGeom>
          <a:noFill/>
          <a:ln/>
        </p:spPr>
        <p:txBody>
          <a:bodyPr wrap="square" lIns="0" tIns="0" rIns="0" bIns="0" rtlCol="0" anchor="ctr"/>
          <a:lstStyle/>
          <a:p>
            <a:pPr marL="0" indent="0">
              <a:buNone/>
            </a:pPr>
            <a:r>
              <a:rPr lang="en-US" sz="900" b="1" kern="0" spc="300" dirty="0">
                <a:solidFill>
                  <a:srgbClr val="E57368"/>
                </a:solidFill>
                <a:latin typeface="Poppins" pitchFamily="34" charset="0"/>
                <a:ea typeface="Poppins" pitchFamily="34" charset="-122"/>
                <a:cs typeface="Poppins" pitchFamily="34" charset="-120"/>
              </a:rPr>
              <a:t>THE PROBLEM</a:t>
            </a:r>
            <a:endParaRPr lang="en-US" sz="900" dirty="0"/>
          </a:p>
        </p:txBody>
      </p:sp>
      <p:sp>
        <p:nvSpPr>
          <p:cNvPr id="24" name="Problem card"/>
          <p:cNvSpPr/>
          <p:nvPr/>
        </p:nvSpPr>
        <p:spPr>
          <a:xfrm>
            <a:off x="457200" y="1325880"/>
            <a:ext cx="3749040" cy="621792"/>
          </a:xfrm>
          <a:prstGeom prst="roundRect">
            <a:avLst>
              <a:gd name="adj" fmla="val 11765"/>
            </a:avLst>
          </a:prstGeom>
          <a:solidFill>
            <a:srgbClr val="17181D">
              <a:alpha val="95000"/>
            </a:srgbClr>
          </a:solidFill>
          <a:ln w="9525">
            <a:solidFill>
              <a:srgbClr val="C0392B">
                <a:alpha val="55000"/>
              </a:srgbClr>
            </a:solidFill>
            <a:prstDash val="solid"/>
          </a:ln>
        </p:spPr>
      </p:sp>
      <p:sp>
        <p:nvSpPr>
          <p:cNvPr id="25" name="Text 23"/>
          <p:cNvSpPr txBox="1"/>
          <p:nvPr/>
        </p:nvSpPr>
        <p:spPr>
          <a:xfrm>
            <a:off x="640080" y="1380744"/>
            <a:ext cx="3474720" cy="228600"/>
          </a:xfrm>
          <a:prstGeom prst="rect">
            <a:avLst/>
          </a:prstGeom>
          <a:noFill/>
          <a:ln/>
        </p:spPr>
        <p:txBody>
          <a:bodyPr wrap="square" lIns="0" tIns="0" rIns="0" bIns="0" rtlCol="0" anchor="ctr"/>
          <a:lstStyle/>
          <a:p>
            <a:pPr marL="0" indent="0">
              <a:buNone/>
            </a:pPr>
            <a:r>
              <a:rPr lang="en-US" sz="1000" b="1" dirty="0">
                <a:solidFill>
                  <a:srgbClr val="E57368"/>
                </a:solidFill>
                <a:latin typeface="Poppins" pitchFamily="34" charset="0"/>
                <a:ea typeface="Poppins" pitchFamily="34" charset="-122"/>
                <a:cs typeface="Poppins" pitchFamily="34" charset="-120"/>
              </a:rPr>
              <a:t>Players Don’t Understand Their Own Game</a:t>
            </a:r>
            <a:endParaRPr lang="en-US" sz="1000" dirty="0"/>
          </a:p>
        </p:txBody>
      </p:sp>
      <p:sp>
        <p:nvSpPr>
          <p:cNvPr id="26" name="Text 24"/>
          <p:cNvSpPr txBox="1"/>
          <p:nvPr/>
        </p:nvSpPr>
        <p:spPr>
          <a:xfrm>
            <a:off x="640080" y="1618488"/>
            <a:ext cx="3474720" cy="274320"/>
          </a:xfrm>
          <a:prstGeom prst="rect">
            <a:avLst/>
          </a:prstGeom>
          <a:noFill/>
          <a:ln/>
        </p:spPr>
        <p:txBody>
          <a:bodyPr wrap="square" lIns="0" tIns="0" rIns="0" bIns="0" rtlCol="0" anchor="t"/>
          <a:lstStyle/>
          <a:p>
            <a:r>
              <a:rPr lang="en-IN" sz="800" dirty="0">
                <a:solidFill>
                  <a:schemeClr val="bg1">
                    <a:lumMod val="65000"/>
                  </a:schemeClr>
                </a:solidFill>
                <a:latin typeface="Poppins "/>
              </a:rPr>
              <a:t>Hard to identify patterns across hundreds of decisions.</a:t>
            </a:r>
            <a:endParaRPr lang="en-US" sz="800" dirty="0">
              <a:solidFill>
                <a:schemeClr val="bg1">
                  <a:lumMod val="65000"/>
                </a:schemeClr>
              </a:solidFill>
              <a:latin typeface="Poppins "/>
            </a:endParaRPr>
          </a:p>
        </p:txBody>
      </p:sp>
      <p:sp>
        <p:nvSpPr>
          <p:cNvPr id="27" name="Problem card"/>
          <p:cNvSpPr/>
          <p:nvPr/>
        </p:nvSpPr>
        <p:spPr>
          <a:xfrm>
            <a:off x="457200" y="2039112"/>
            <a:ext cx="3749040" cy="621792"/>
          </a:xfrm>
          <a:prstGeom prst="roundRect">
            <a:avLst>
              <a:gd name="adj" fmla="val 11765"/>
            </a:avLst>
          </a:prstGeom>
          <a:solidFill>
            <a:srgbClr val="17181D">
              <a:alpha val="95000"/>
            </a:srgbClr>
          </a:solidFill>
          <a:ln w="9525">
            <a:solidFill>
              <a:srgbClr val="C0392B">
                <a:alpha val="55000"/>
              </a:srgbClr>
            </a:solidFill>
            <a:prstDash val="solid"/>
          </a:ln>
        </p:spPr>
      </p:sp>
      <p:sp>
        <p:nvSpPr>
          <p:cNvPr id="28" name="Text 26"/>
          <p:cNvSpPr txBox="1"/>
          <p:nvPr/>
        </p:nvSpPr>
        <p:spPr>
          <a:xfrm>
            <a:off x="640080" y="2093976"/>
            <a:ext cx="3474720" cy="228600"/>
          </a:xfrm>
          <a:prstGeom prst="rect">
            <a:avLst/>
          </a:prstGeom>
          <a:noFill/>
          <a:ln/>
        </p:spPr>
        <p:txBody>
          <a:bodyPr wrap="square" lIns="0" tIns="0" rIns="0" bIns="0" rtlCol="0" anchor="ctr"/>
          <a:lstStyle/>
          <a:p>
            <a:pPr marL="0" indent="0">
              <a:buNone/>
            </a:pPr>
            <a:r>
              <a:rPr lang="en-US" sz="1000" b="1" dirty="0">
                <a:solidFill>
                  <a:srgbClr val="E57368"/>
                </a:solidFill>
                <a:latin typeface="Poppins" pitchFamily="34" charset="0"/>
                <a:cs typeface="Poppins" pitchFamily="34" charset="-120"/>
              </a:rPr>
              <a:t>Generic Analysis Isn’t Personal</a:t>
            </a:r>
            <a:endParaRPr lang="en-US" sz="1000" dirty="0"/>
          </a:p>
        </p:txBody>
      </p:sp>
      <p:sp>
        <p:nvSpPr>
          <p:cNvPr id="29" name="Text 27"/>
          <p:cNvSpPr txBox="1"/>
          <p:nvPr/>
        </p:nvSpPr>
        <p:spPr>
          <a:xfrm>
            <a:off x="640080" y="2331720"/>
            <a:ext cx="3474720" cy="274320"/>
          </a:xfrm>
          <a:prstGeom prst="rect">
            <a:avLst/>
          </a:prstGeom>
          <a:noFill/>
          <a:ln/>
        </p:spPr>
        <p:txBody>
          <a:bodyPr wrap="square" lIns="0" tIns="0" rIns="0" bIns="0" rtlCol="0" anchor="t"/>
          <a:lstStyle/>
          <a:p>
            <a:r>
              <a:rPr lang="en-IN" sz="800" dirty="0">
                <a:solidFill>
                  <a:schemeClr val="bg1">
                    <a:lumMod val="65000"/>
                  </a:schemeClr>
                </a:solidFill>
              </a:rPr>
              <a:t>Engines show the best move, not </a:t>
            </a:r>
            <a:r>
              <a:rPr lang="en-IN" sz="800" b="1" dirty="0">
                <a:solidFill>
                  <a:schemeClr val="bg1">
                    <a:lumMod val="65000"/>
                  </a:schemeClr>
                </a:solidFill>
              </a:rPr>
              <a:t>how you naturally play</a:t>
            </a:r>
            <a:r>
              <a:rPr lang="en-IN" sz="800" dirty="0">
                <a:solidFill>
                  <a:schemeClr val="bg1">
                    <a:lumMod val="65000"/>
                  </a:schemeClr>
                </a:solidFill>
              </a:rPr>
              <a:t>.</a:t>
            </a:r>
            <a:endParaRPr lang="en-US" sz="800" dirty="0">
              <a:solidFill>
                <a:schemeClr val="bg1">
                  <a:lumMod val="65000"/>
                </a:schemeClr>
              </a:solidFill>
            </a:endParaRPr>
          </a:p>
        </p:txBody>
      </p:sp>
      <p:sp>
        <p:nvSpPr>
          <p:cNvPr id="30" name="Problem card"/>
          <p:cNvSpPr/>
          <p:nvPr/>
        </p:nvSpPr>
        <p:spPr>
          <a:xfrm>
            <a:off x="457200" y="2752344"/>
            <a:ext cx="3749040" cy="621792"/>
          </a:xfrm>
          <a:prstGeom prst="roundRect">
            <a:avLst>
              <a:gd name="adj" fmla="val 11765"/>
            </a:avLst>
          </a:prstGeom>
          <a:solidFill>
            <a:srgbClr val="17181D">
              <a:alpha val="95000"/>
            </a:srgbClr>
          </a:solidFill>
          <a:ln w="9525">
            <a:solidFill>
              <a:srgbClr val="C0392B">
                <a:alpha val="55000"/>
              </a:srgbClr>
            </a:solidFill>
            <a:prstDash val="solid"/>
          </a:ln>
        </p:spPr>
      </p:sp>
      <p:sp>
        <p:nvSpPr>
          <p:cNvPr id="31" name="Text 29"/>
          <p:cNvSpPr txBox="1"/>
          <p:nvPr/>
        </p:nvSpPr>
        <p:spPr>
          <a:xfrm>
            <a:off x="640080" y="2807208"/>
            <a:ext cx="3474720" cy="228600"/>
          </a:xfrm>
          <a:prstGeom prst="rect">
            <a:avLst/>
          </a:prstGeom>
          <a:noFill/>
          <a:ln/>
        </p:spPr>
        <p:txBody>
          <a:bodyPr wrap="square" lIns="0" tIns="0" rIns="0" bIns="0" rtlCol="0" anchor="ctr"/>
          <a:lstStyle/>
          <a:p>
            <a:pPr marL="0" indent="0">
              <a:buNone/>
            </a:pPr>
            <a:r>
              <a:rPr lang="en-US" sz="1000" b="1" dirty="0">
                <a:solidFill>
                  <a:srgbClr val="E57368"/>
                </a:solidFill>
                <a:latin typeface="Poppins" pitchFamily="34" charset="0"/>
                <a:ea typeface="Poppins" pitchFamily="34" charset="-122"/>
                <a:cs typeface="Poppins" pitchFamily="34" charset="-120"/>
              </a:rPr>
              <a:t>Recurring Weaknesses Stay Hidden</a:t>
            </a:r>
            <a:endParaRPr lang="en-US" sz="1000" dirty="0"/>
          </a:p>
        </p:txBody>
      </p:sp>
      <p:sp>
        <p:nvSpPr>
          <p:cNvPr id="32" name="Text 30"/>
          <p:cNvSpPr txBox="1"/>
          <p:nvPr/>
        </p:nvSpPr>
        <p:spPr>
          <a:xfrm>
            <a:off x="640080" y="3044952"/>
            <a:ext cx="3474720" cy="274320"/>
          </a:xfrm>
          <a:prstGeom prst="rect">
            <a:avLst/>
          </a:prstGeom>
          <a:noFill/>
          <a:ln/>
        </p:spPr>
        <p:txBody>
          <a:bodyPr wrap="square" lIns="0" tIns="0" rIns="0" bIns="0" rtlCol="0" anchor="t"/>
          <a:lstStyle/>
          <a:p>
            <a:r>
              <a:rPr lang="en-IN" sz="800" dirty="0">
                <a:solidFill>
                  <a:schemeClr val="bg1">
                    <a:lumMod val="65000"/>
                  </a:schemeClr>
                </a:solidFill>
                <a:latin typeface="Poppins "/>
              </a:rPr>
              <a:t>Repeated tactical, positional, opening, or defensive mistakes are easy to miss.</a:t>
            </a:r>
            <a:endParaRPr lang="en-US" sz="800" dirty="0">
              <a:solidFill>
                <a:schemeClr val="bg1">
                  <a:lumMod val="65000"/>
                </a:schemeClr>
              </a:solidFill>
              <a:latin typeface="Poppins "/>
            </a:endParaRPr>
          </a:p>
        </p:txBody>
      </p:sp>
      <p:sp>
        <p:nvSpPr>
          <p:cNvPr id="33" name="Problem card"/>
          <p:cNvSpPr/>
          <p:nvPr/>
        </p:nvSpPr>
        <p:spPr>
          <a:xfrm>
            <a:off x="457200" y="3465576"/>
            <a:ext cx="3749040" cy="621792"/>
          </a:xfrm>
          <a:prstGeom prst="roundRect">
            <a:avLst>
              <a:gd name="adj" fmla="val 11765"/>
            </a:avLst>
          </a:prstGeom>
          <a:solidFill>
            <a:srgbClr val="17181D">
              <a:alpha val="95000"/>
            </a:srgbClr>
          </a:solidFill>
          <a:ln w="9525">
            <a:solidFill>
              <a:srgbClr val="C0392B">
                <a:alpha val="55000"/>
              </a:srgbClr>
            </a:solidFill>
            <a:prstDash val="solid"/>
          </a:ln>
        </p:spPr>
      </p:sp>
      <p:sp>
        <p:nvSpPr>
          <p:cNvPr id="34" name="Text 32"/>
          <p:cNvSpPr txBox="1"/>
          <p:nvPr/>
        </p:nvSpPr>
        <p:spPr>
          <a:xfrm>
            <a:off x="640080" y="3520440"/>
            <a:ext cx="3474720" cy="228600"/>
          </a:xfrm>
          <a:prstGeom prst="rect">
            <a:avLst/>
          </a:prstGeom>
          <a:noFill/>
          <a:ln/>
        </p:spPr>
        <p:txBody>
          <a:bodyPr wrap="square" lIns="0" tIns="0" rIns="0" bIns="0" rtlCol="0" anchor="ctr"/>
          <a:lstStyle/>
          <a:p>
            <a:pPr marL="0" indent="0">
              <a:buNone/>
            </a:pPr>
            <a:r>
              <a:rPr lang="en-US" sz="1000" b="1" dirty="0">
                <a:solidFill>
                  <a:srgbClr val="E57368"/>
                </a:solidFill>
                <a:latin typeface="Poppins" pitchFamily="34" charset="0"/>
                <a:cs typeface="Poppins" pitchFamily="34" charset="-120"/>
              </a:rPr>
              <a:t>No Personalized Path To Improvement</a:t>
            </a:r>
            <a:endParaRPr lang="en-US" sz="1000" dirty="0"/>
          </a:p>
        </p:txBody>
      </p:sp>
      <p:sp>
        <p:nvSpPr>
          <p:cNvPr id="35" name="Text 33"/>
          <p:cNvSpPr txBox="1"/>
          <p:nvPr/>
        </p:nvSpPr>
        <p:spPr>
          <a:xfrm>
            <a:off x="640080" y="3758184"/>
            <a:ext cx="3474720" cy="274320"/>
          </a:xfrm>
          <a:prstGeom prst="rect">
            <a:avLst/>
          </a:prstGeom>
          <a:noFill/>
          <a:ln/>
        </p:spPr>
        <p:txBody>
          <a:bodyPr wrap="square" lIns="0" tIns="0" rIns="0" bIns="0" rtlCol="0" anchor="t"/>
          <a:lstStyle/>
          <a:p>
            <a:r>
              <a:rPr lang="en-IN" sz="800" dirty="0">
                <a:solidFill>
                  <a:schemeClr val="bg1">
                    <a:lumMod val="65000"/>
                  </a:schemeClr>
                </a:solidFill>
                <a:latin typeface="Poppins "/>
              </a:rPr>
              <a:t>Players lack a stronger version of themselves that reflects their style.</a:t>
            </a:r>
            <a:endParaRPr lang="en-US" sz="800" dirty="0">
              <a:solidFill>
                <a:schemeClr val="bg1">
                  <a:lumMod val="65000"/>
                </a:schemeClr>
              </a:solidFill>
              <a:latin typeface="Poppins "/>
            </a:endParaRPr>
          </a:p>
        </p:txBody>
      </p:sp>
      <p:sp>
        <p:nvSpPr>
          <p:cNvPr id="36" name="Text 34"/>
          <p:cNvSpPr txBox="1"/>
          <p:nvPr/>
        </p:nvSpPr>
        <p:spPr>
          <a:xfrm>
            <a:off x="4572000" y="1051560"/>
            <a:ext cx="4114800" cy="228600"/>
          </a:xfrm>
          <a:prstGeom prst="rect">
            <a:avLst/>
          </a:prstGeom>
          <a:noFill/>
          <a:ln/>
        </p:spPr>
        <p:txBody>
          <a:bodyPr wrap="square" lIns="0" tIns="0" rIns="0" bIns="0" rtlCol="0" anchor="ctr"/>
          <a:lstStyle/>
          <a:p>
            <a:pPr marL="0" indent="0">
              <a:buNone/>
            </a:pPr>
            <a:r>
              <a:rPr lang="en-US" sz="900" b="1" kern="0" spc="300" dirty="0">
                <a:solidFill>
                  <a:srgbClr val="10B981"/>
                </a:solidFill>
                <a:latin typeface="Poppins" pitchFamily="34" charset="0"/>
                <a:ea typeface="Poppins" pitchFamily="34" charset="-122"/>
                <a:cs typeface="Poppins" pitchFamily="34" charset="-120"/>
              </a:rPr>
              <a:t>THE SOLUTION — CHESS EVOLVE</a:t>
            </a:r>
            <a:endParaRPr lang="en-US" sz="900" dirty="0"/>
          </a:p>
        </p:txBody>
      </p:sp>
      <p:sp>
        <p:nvSpPr>
          <p:cNvPr id="37" name="Text 35"/>
          <p:cNvSpPr txBox="1"/>
          <p:nvPr/>
        </p:nvSpPr>
        <p:spPr>
          <a:xfrm>
            <a:off x="4572000" y="1298448"/>
            <a:ext cx="4114800" cy="274320"/>
          </a:xfrm>
          <a:prstGeom prst="rect">
            <a:avLst/>
          </a:prstGeom>
          <a:noFill/>
          <a:ln/>
        </p:spPr>
        <p:txBody>
          <a:bodyPr wrap="square" lIns="0" tIns="0" rIns="0" bIns="0" rtlCol="0" anchor="ctr"/>
          <a:lstStyle/>
          <a:p>
            <a:pPr marL="0" indent="0">
              <a:buNone/>
            </a:pPr>
            <a:r>
              <a:rPr lang="en-US" sz="900" dirty="0">
                <a:solidFill>
                  <a:srgbClr val="C9CCD1"/>
                </a:solidFill>
                <a:latin typeface="Poppins" pitchFamily="34" charset="0"/>
                <a:ea typeface="Poppins" pitchFamily="34" charset="-122"/>
                <a:cs typeface="Poppins" pitchFamily="34" charset="-120"/>
              </a:rPr>
              <a:t>Learns directly from a player's real Chess.com game history.</a:t>
            </a:r>
            <a:endParaRPr lang="en-US" sz="900" dirty="0"/>
          </a:p>
        </p:txBody>
      </p:sp>
      <p:sp>
        <p:nvSpPr>
          <p:cNvPr id="38" name="Current Self"/>
          <p:cNvSpPr/>
          <p:nvPr/>
        </p:nvSpPr>
        <p:spPr>
          <a:xfrm>
            <a:off x="4572000" y="1645920"/>
            <a:ext cx="1965960" cy="1051560"/>
          </a:xfrm>
          <a:prstGeom prst="roundRect">
            <a:avLst>
              <a:gd name="adj" fmla="val 6957"/>
            </a:avLst>
          </a:prstGeom>
          <a:solidFill>
            <a:srgbClr val="17181D">
              <a:alpha val="95000"/>
            </a:srgbClr>
          </a:solidFill>
          <a:ln w="9525">
            <a:solidFill>
              <a:srgbClr val="D4AF37">
                <a:alpha val="55000"/>
              </a:srgbClr>
            </a:solidFill>
            <a:prstDash val="solid"/>
          </a:ln>
        </p:spPr>
      </p:sp>
      <p:sp>
        <p:nvSpPr>
          <p:cNvPr id="39" name="Text 37"/>
          <p:cNvSpPr txBox="1"/>
          <p:nvPr/>
        </p:nvSpPr>
        <p:spPr>
          <a:xfrm>
            <a:off x="4709160" y="1691640"/>
            <a:ext cx="1737360" cy="228600"/>
          </a:xfrm>
          <a:prstGeom prst="rect">
            <a:avLst/>
          </a:prstGeom>
          <a:noFill/>
          <a:ln/>
        </p:spPr>
        <p:txBody>
          <a:bodyPr wrap="square" lIns="0" tIns="0" rIns="0" bIns="0" rtlCol="0" anchor="ctr"/>
          <a:lstStyle/>
          <a:p>
            <a:pPr marL="0" indent="0">
              <a:buNone/>
            </a:pPr>
            <a:r>
              <a:rPr lang="en-US" sz="1000" b="1" dirty="0">
                <a:solidFill>
                  <a:srgbClr val="D4AF37"/>
                </a:solidFill>
                <a:latin typeface="Poppins" pitchFamily="34" charset="0"/>
                <a:ea typeface="Poppins" pitchFamily="34" charset="-122"/>
                <a:cs typeface="Poppins" pitchFamily="34" charset="-120"/>
              </a:rPr>
              <a:t>CURRENT SELF</a:t>
            </a:r>
            <a:endParaRPr lang="en-US" sz="1000" dirty="0"/>
          </a:p>
        </p:txBody>
      </p:sp>
      <p:sp>
        <p:nvSpPr>
          <p:cNvPr id="40" name="Text 38"/>
          <p:cNvSpPr txBox="1"/>
          <p:nvPr/>
        </p:nvSpPr>
        <p:spPr>
          <a:xfrm>
            <a:off x="4709160" y="1920240"/>
            <a:ext cx="1737360" cy="731520"/>
          </a:xfrm>
          <a:prstGeom prst="rect">
            <a:avLst/>
          </a:prstGeom>
          <a:noFill/>
          <a:ln/>
        </p:spPr>
        <p:txBody>
          <a:bodyPr wrap="square" lIns="0" tIns="0" rIns="0" bIns="0" rtlCol="0" anchor="t"/>
          <a:lstStyle/>
          <a:p>
            <a:pPr marL="0" indent="0">
              <a:buNone/>
            </a:pPr>
            <a:r>
              <a:rPr lang="en-US" sz="750" dirty="0">
                <a:solidFill>
                  <a:srgbClr val="C9CCD1"/>
                </a:solidFill>
                <a:latin typeface="Poppins" pitchFamily="34" charset="0"/>
                <a:ea typeface="Poppins" pitchFamily="34" charset="-122"/>
                <a:cs typeface="Poppins" pitchFamily="34" charset="-120"/>
              </a:rPr>
              <a:t>“How would this player normally play this position?”</a:t>
            </a:r>
            <a:endParaRPr lang="en-US" sz="750" dirty="0"/>
          </a:p>
          <a:p>
            <a:pPr marL="0" indent="0">
              <a:buNone/>
            </a:pPr>
            <a:r>
              <a:rPr lang="en-US" sz="750" dirty="0">
                <a:solidFill>
                  <a:srgbClr val="C9CCD1"/>
                </a:solidFill>
                <a:latin typeface="Poppins" pitchFamily="34" charset="0"/>
                <a:ea typeface="Poppins" pitchFamily="34" charset="-122"/>
                <a:cs typeface="Poppins" pitchFamily="34" charset="-120"/>
              </a:rPr>
              <a:t>Moves, openings, tactics, risk, recurring mistakes.</a:t>
            </a:r>
            <a:endParaRPr lang="en-US" sz="750" dirty="0"/>
          </a:p>
        </p:txBody>
      </p:sp>
      <p:sp>
        <p:nvSpPr>
          <p:cNvPr id="41" name="Peak Self"/>
          <p:cNvSpPr/>
          <p:nvPr/>
        </p:nvSpPr>
        <p:spPr>
          <a:xfrm>
            <a:off x="6720840" y="1645920"/>
            <a:ext cx="1965960" cy="1051560"/>
          </a:xfrm>
          <a:prstGeom prst="roundRect">
            <a:avLst>
              <a:gd name="adj" fmla="val 6957"/>
            </a:avLst>
          </a:prstGeom>
          <a:solidFill>
            <a:srgbClr val="17181D">
              <a:alpha val="95000"/>
            </a:srgbClr>
          </a:solidFill>
          <a:ln w="9525">
            <a:solidFill>
              <a:srgbClr val="10B981">
                <a:alpha val="55000"/>
              </a:srgbClr>
            </a:solidFill>
            <a:prstDash val="solid"/>
          </a:ln>
        </p:spPr>
      </p:sp>
      <p:sp>
        <p:nvSpPr>
          <p:cNvPr id="42" name="Text 40"/>
          <p:cNvSpPr txBox="1"/>
          <p:nvPr/>
        </p:nvSpPr>
        <p:spPr>
          <a:xfrm>
            <a:off x="6858000" y="1691640"/>
            <a:ext cx="1737360" cy="228600"/>
          </a:xfrm>
          <a:prstGeom prst="rect">
            <a:avLst/>
          </a:prstGeom>
          <a:noFill/>
          <a:ln/>
        </p:spPr>
        <p:txBody>
          <a:bodyPr wrap="square" lIns="0" tIns="0" rIns="0" bIns="0" rtlCol="0" anchor="ctr"/>
          <a:lstStyle/>
          <a:p>
            <a:pPr marL="0" indent="0">
              <a:buNone/>
            </a:pPr>
            <a:r>
              <a:rPr lang="en-US" sz="1000" b="1" dirty="0">
                <a:solidFill>
                  <a:srgbClr val="10B981"/>
                </a:solidFill>
                <a:latin typeface="Poppins" pitchFamily="34" charset="0"/>
                <a:ea typeface="Poppins" pitchFamily="34" charset="-122"/>
                <a:cs typeface="Poppins" pitchFamily="34" charset="-120"/>
              </a:rPr>
              <a:t>PEAK SELF</a:t>
            </a:r>
            <a:endParaRPr lang="en-US" sz="1000" dirty="0"/>
          </a:p>
        </p:txBody>
      </p:sp>
      <p:sp>
        <p:nvSpPr>
          <p:cNvPr id="43" name="Text 41"/>
          <p:cNvSpPr txBox="1"/>
          <p:nvPr/>
        </p:nvSpPr>
        <p:spPr>
          <a:xfrm>
            <a:off x="6858000" y="1920240"/>
            <a:ext cx="1737360" cy="731520"/>
          </a:xfrm>
          <a:prstGeom prst="rect">
            <a:avLst/>
          </a:prstGeom>
          <a:noFill/>
          <a:ln/>
        </p:spPr>
        <p:txBody>
          <a:bodyPr wrap="square" lIns="0" tIns="0" rIns="0" bIns="0" rtlCol="0" anchor="t"/>
          <a:lstStyle/>
          <a:p>
            <a:pPr marL="0" indent="0">
              <a:buNone/>
            </a:pPr>
            <a:r>
              <a:rPr lang="en-US" sz="750" dirty="0">
                <a:solidFill>
                  <a:srgbClr val="C9CCD1"/>
                </a:solidFill>
                <a:latin typeface="Poppins" pitchFamily="34" charset="0"/>
                <a:ea typeface="Poppins" pitchFamily="34" charset="-122"/>
                <a:cs typeface="Poppins" pitchFamily="34" charset="-120"/>
              </a:rPr>
              <a:t>“How would a stronger version of this player play it?”</a:t>
            </a:r>
            <a:endParaRPr lang="en-US" sz="750" dirty="0"/>
          </a:p>
          <a:p>
            <a:pPr marL="0" indent="0">
              <a:buNone/>
            </a:pPr>
            <a:r>
              <a:rPr lang="en-US" sz="750" dirty="0">
                <a:solidFill>
                  <a:srgbClr val="C9CCD1"/>
                </a:solidFill>
                <a:latin typeface="Poppins" pitchFamily="34" charset="0"/>
                <a:ea typeface="Poppins" pitchFamily="34" charset="-122"/>
                <a:cs typeface="Poppins" pitchFamily="34" charset="-120"/>
              </a:rPr>
              <a:t>Reduce weaknesses, keep identity.</a:t>
            </a:r>
            <a:endParaRPr lang="en-US" sz="750" dirty="0"/>
          </a:p>
        </p:txBody>
      </p:sp>
      <p:sp>
        <p:nvSpPr>
          <p:cNvPr id="44" name="Text 42"/>
          <p:cNvSpPr txBox="1"/>
          <p:nvPr/>
        </p:nvSpPr>
        <p:spPr>
          <a:xfrm>
            <a:off x="4572000" y="2834640"/>
            <a:ext cx="4114800" cy="182880"/>
          </a:xfrm>
          <a:prstGeom prst="rect">
            <a:avLst/>
          </a:prstGeom>
          <a:noFill/>
          <a:ln/>
        </p:spPr>
        <p:txBody>
          <a:bodyPr wrap="square" lIns="0" tIns="0" rIns="0" bIns="0" rtlCol="0" anchor="ctr"/>
          <a:lstStyle/>
          <a:p>
            <a:pPr marL="0" indent="0">
              <a:buNone/>
            </a:pPr>
            <a:r>
              <a:rPr lang="en-US" sz="800" b="1" kern="0" spc="300" dirty="0">
                <a:solidFill>
                  <a:srgbClr val="D4AF37"/>
                </a:solidFill>
                <a:latin typeface="Poppins" pitchFamily="34" charset="0"/>
                <a:ea typeface="Poppins" pitchFamily="34" charset="-122"/>
                <a:cs typeface="Poppins" pitchFamily="34" charset="-120"/>
              </a:rPr>
              <a:t>TARGETED EVOLUTION</a:t>
            </a:r>
            <a:endParaRPr lang="en-US" sz="800" dirty="0"/>
          </a:p>
        </p:txBody>
      </p:sp>
      <p:sp>
        <p:nvSpPr>
          <p:cNvPr id="45" name="chip"/>
          <p:cNvSpPr/>
          <p:nvPr/>
        </p:nvSpPr>
        <p:spPr>
          <a:xfrm>
            <a:off x="4572000" y="3063240"/>
            <a:ext cx="91440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46" name="Text 44"/>
          <p:cNvSpPr txBox="1"/>
          <p:nvPr/>
        </p:nvSpPr>
        <p:spPr>
          <a:xfrm>
            <a:off x="4572000" y="3063240"/>
            <a:ext cx="914400" cy="274320"/>
          </a:xfrm>
          <a:prstGeom prst="rect">
            <a:avLst/>
          </a:prstGeom>
          <a:noFill/>
          <a:ln/>
        </p:spPr>
        <p:txBody>
          <a:bodyPr wrap="square" lIns="0" tIns="0" rIns="0" bIns="0" rtlCol="0" anchor="ctr"/>
          <a:lstStyle/>
          <a:p>
            <a:pPr marL="0" indent="0" algn="ctr">
              <a:buNone/>
            </a:pPr>
            <a:r>
              <a:rPr lang="en-US" sz="700" b="1" dirty="0">
                <a:solidFill>
                  <a:srgbClr val="D4AF37"/>
                </a:solidFill>
                <a:latin typeface="Poppins" pitchFamily="34" charset="0"/>
                <a:ea typeface="Poppins" pitchFamily="34" charset="-122"/>
                <a:cs typeface="Poppins" pitchFamily="34" charset="-120"/>
              </a:rPr>
              <a:t>CURRENT SELF</a:t>
            </a:r>
            <a:endParaRPr lang="en-US" sz="700" dirty="0"/>
          </a:p>
        </p:txBody>
      </p:sp>
      <p:sp>
        <p:nvSpPr>
          <p:cNvPr id="47" name="Text 45"/>
          <p:cNvSpPr txBox="1"/>
          <p:nvPr/>
        </p:nvSpPr>
        <p:spPr>
          <a:xfrm>
            <a:off x="4526280" y="3364992"/>
            <a:ext cx="1005840" cy="274320"/>
          </a:xfrm>
          <a:prstGeom prst="rect">
            <a:avLst/>
          </a:prstGeom>
          <a:noFill/>
          <a:ln/>
        </p:spPr>
        <p:txBody>
          <a:bodyPr wrap="square" lIns="0" tIns="0" rIns="0" bIns="0" rtlCol="0" anchor="ctr"/>
          <a:lstStyle/>
          <a:p>
            <a:pPr marL="0" indent="0" algn="ctr">
              <a:buNone/>
            </a:pPr>
            <a:r>
              <a:rPr lang="en-US" sz="700" dirty="0">
                <a:solidFill>
                  <a:srgbClr val="8A8F98"/>
                </a:solidFill>
                <a:latin typeface="Poppins" pitchFamily="34" charset="0"/>
                <a:ea typeface="Poppins" pitchFamily="34" charset="-122"/>
                <a:cs typeface="Poppins" pitchFamily="34" charset="-120"/>
              </a:rPr>
              <a:t>Understand habits</a:t>
            </a:r>
            <a:endParaRPr lang="en-US" sz="700" dirty="0"/>
          </a:p>
        </p:txBody>
      </p:sp>
      <p:sp>
        <p:nvSpPr>
          <p:cNvPr id="48" name="chip"/>
          <p:cNvSpPr/>
          <p:nvPr/>
        </p:nvSpPr>
        <p:spPr>
          <a:xfrm>
            <a:off x="5614416" y="3063240"/>
            <a:ext cx="91440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49" name="Text 47"/>
          <p:cNvSpPr txBox="1"/>
          <p:nvPr/>
        </p:nvSpPr>
        <p:spPr>
          <a:xfrm>
            <a:off x="5614416" y="3063240"/>
            <a:ext cx="914400" cy="274320"/>
          </a:xfrm>
          <a:prstGeom prst="rect">
            <a:avLst/>
          </a:prstGeom>
          <a:noFill/>
          <a:ln/>
        </p:spPr>
        <p:txBody>
          <a:bodyPr wrap="square" lIns="0" tIns="0" rIns="0" bIns="0" rtlCol="0" anchor="ctr"/>
          <a:lstStyle/>
          <a:p>
            <a:pPr marL="0" indent="0" algn="ctr">
              <a:buNone/>
            </a:pPr>
            <a:r>
              <a:rPr lang="en-US" sz="700" b="1" dirty="0">
                <a:solidFill>
                  <a:srgbClr val="D4AF37"/>
                </a:solidFill>
                <a:latin typeface="Poppins" pitchFamily="34" charset="0"/>
                <a:ea typeface="Poppins" pitchFamily="34" charset="-122"/>
                <a:cs typeface="Poppins" pitchFamily="34" charset="-120"/>
              </a:rPr>
              <a:t>PEAK SELF</a:t>
            </a:r>
            <a:endParaRPr lang="en-US" sz="700" dirty="0"/>
          </a:p>
        </p:txBody>
      </p:sp>
      <p:sp>
        <p:nvSpPr>
          <p:cNvPr id="50" name="Text 48"/>
          <p:cNvSpPr txBox="1"/>
          <p:nvPr/>
        </p:nvSpPr>
        <p:spPr>
          <a:xfrm>
            <a:off x="5568696" y="3364992"/>
            <a:ext cx="1005840" cy="274320"/>
          </a:xfrm>
          <a:prstGeom prst="rect">
            <a:avLst/>
          </a:prstGeom>
          <a:noFill/>
          <a:ln/>
        </p:spPr>
        <p:txBody>
          <a:bodyPr wrap="square" lIns="0" tIns="0" rIns="0" bIns="0" rtlCol="0" anchor="ctr"/>
          <a:lstStyle/>
          <a:p>
            <a:pPr marL="0" indent="0" algn="ctr">
              <a:buNone/>
            </a:pPr>
            <a:r>
              <a:rPr lang="en-US" sz="700" dirty="0">
                <a:solidFill>
                  <a:srgbClr val="8A8F98"/>
                </a:solidFill>
                <a:latin typeface="Poppins" pitchFamily="34" charset="0"/>
                <a:ea typeface="Poppins" pitchFamily="34" charset="-122"/>
                <a:cs typeface="Poppins" pitchFamily="34" charset="-120"/>
              </a:rPr>
              <a:t>Challenge weaknesses</a:t>
            </a:r>
            <a:endParaRPr lang="en-US" sz="700" dirty="0"/>
          </a:p>
        </p:txBody>
      </p:sp>
      <p:sp>
        <p:nvSpPr>
          <p:cNvPr id="51" name="chip"/>
          <p:cNvSpPr/>
          <p:nvPr/>
        </p:nvSpPr>
        <p:spPr>
          <a:xfrm>
            <a:off x="6656832" y="3063240"/>
            <a:ext cx="914400" cy="274320"/>
          </a:xfrm>
          <a:prstGeom prst="roundRect">
            <a:avLst>
              <a:gd name="adj" fmla="val 26667"/>
            </a:avLst>
          </a:prstGeom>
          <a:solidFill>
            <a:srgbClr val="17181D">
              <a:alpha val="95000"/>
            </a:srgbClr>
          </a:solidFill>
          <a:ln w="9525">
            <a:solidFill>
              <a:srgbClr val="10B981">
                <a:alpha val="55000"/>
              </a:srgbClr>
            </a:solidFill>
            <a:prstDash val="solid"/>
          </a:ln>
        </p:spPr>
      </p:sp>
      <p:sp>
        <p:nvSpPr>
          <p:cNvPr id="52" name="Text 50"/>
          <p:cNvSpPr txBox="1"/>
          <p:nvPr/>
        </p:nvSpPr>
        <p:spPr>
          <a:xfrm>
            <a:off x="6656832" y="3063240"/>
            <a:ext cx="914400" cy="274320"/>
          </a:xfrm>
          <a:prstGeom prst="rect">
            <a:avLst/>
          </a:prstGeom>
          <a:noFill/>
          <a:ln/>
        </p:spPr>
        <p:txBody>
          <a:bodyPr wrap="square" lIns="0" tIns="0" rIns="0" bIns="0" rtlCol="0" anchor="ctr"/>
          <a:lstStyle/>
          <a:p>
            <a:pPr marL="0" indent="0" algn="ctr">
              <a:buNone/>
            </a:pPr>
            <a:r>
              <a:rPr lang="en-US" sz="700" b="1" dirty="0">
                <a:solidFill>
                  <a:srgbClr val="10B981"/>
                </a:solidFill>
                <a:latin typeface="Poppins" pitchFamily="34" charset="0"/>
                <a:ea typeface="Poppins" pitchFamily="34" charset="-122"/>
                <a:cs typeface="Poppins" pitchFamily="34" charset="-120"/>
              </a:rPr>
              <a:t>TRAINING</a:t>
            </a:r>
            <a:endParaRPr lang="en-US" sz="700" dirty="0"/>
          </a:p>
        </p:txBody>
      </p:sp>
      <p:sp>
        <p:nvSpPr>
          <p:cNvPr id="53" name="Text 51"/>
          <p:cNvSpPr txBox="1"/>
          <p:nvPr/>
        </p:nvSpPr>
        <p:spPr>
          <a:xfrm>
            <a:off x="6611112" y="3364992"/>
            <a:ext cx="1005840" cy="274320"/>
          </a:xfrm>
          <a:prstGeom prst="rect">
            <a:avLst/>
          </a:prstGeom>
          <a:noFill/>
          <a:ln/>
        </p:spPr>
        <p:txBody>
          <a:bodyPr wrap="square" lIns="0" tIns="0" rIns="0" bIns="0" rtlCol="0" anchor="ctr"/>
          <a:lstStyle/>
          <a:p>
            <a:pPr marL="0" indent="0" algn="ctr">
              <a:buNone/>
            </a:pPr>
            <a:r>
              <a:rPr lang="en-US" sz="700" dirty="0">
                <a:solidFill>
                  <a:srgbClr val="8A8F98"/>
                </a:solidFill>
                <a:latin typeface="Poppins" pitchFamily="34" charset="0"/>
                <a:ea typeface="Poppins" pitchFamily="34" charset="-122"/>
                <a:cs typeface="Poppins" pitchFamily="34" charset="-120"/>
              </a:rPr>
              <a:t>Improve decisions</a:t>
            </a:r>
            <a:endParaRPr lang="en-US" sz="700" dirty="0"/>
          </a:p>
        </p:txBody>
      </p:sp>
      <p:sp>
        <p:nvSpPr>
          <p:cNvPr id="54" name="chip"/>
          <p:cNvSpPr/>
          <p:nvPr/>
        </p:nvSpPr>
        <p:spPr>
          <a:xfrm>
            <a:off x="7699248" y="3063240"/>
            <a:ext cx="914400" cy="274320"/>
          </a:xfrm>
          <a:prstGeom prst="roundRect">
            <a:avLst>
              <a:gd name="adj" fmla="val 26667"/>
            </a:avLst>
          </a:prstGeom>
          <a:solidFill>
            <a:srgbClr val="17181D">
              <a:alpha val="95000"/>
            </a:srgbClr>
          </a:solidFill>
          <a:ln w="9525">
            <a:solidFill>
              <a:srgbClr val="10B981">
                <a:alpha val="55000"/>
              </a:srgbClr>
            </a:solidFill>
            <a:prstDash val="solid"/>
          </a:ln>
        </p:spPr>
      </p:sp>
      <p:sp>
        <p:nvSpPr>
          <p:cNvPr id="55" name="Text 53"/>
          <p:cNvSpPr txBox="1"/>
          <p:nvPr/>
        </p:nvSpPr>
        <p:spPr>
          <a:xfrm>
            <a:off x="7699248" y="3063240"/>
            <a:ext cx="914400" cy="274320"/>
          </a:xfrm>
          <a:prstGeom prst="rect">
            <a:avLst/>
          </a:prstGeom>
          <a:noFill/>
          <a:ln/>
        </p:spPr>
        <p:txBody>
          <a:bodyPr wrap="square" lIns="0" tIns="0" rIns="0" bIns="0" rtlCol="0" anchor="ctr"/>
          <a:lstStyle/>
          <a:p>
            <a:pPr marL="0" indent="0" algn="ctr">
              <a:buNone/>
            </a:pPr>
            <a:r>
              <a:rPr lang="en-US" sz="700" b="1" dirty="0">
                <a:solidFill>
                  <a:srgbClr val="10B981"/>
                </a:solidFill>
                <a:latin typeface="Poppins" pitchFamily="34" charset="0"/>
                <a:ea typeface="Poppins" pitchFamily="34" charset="-122"/>
                <a:cs typeface="Poppins" pitchFamily="34" charset="-120"/>
              </a:rPr>
              <a:t>EVOLUTION</a:t>
            </a:r>
            <a:endParaRPr lang="en-US" sz="700" dirty="0"/>
          </a:p>
        </p:txBody>
      </p:sp>
      <p:sp>
        <p:nvSpPr>
          <p:cNvPr id="56" name="Text 54"/>
          <p:cNvSpPr txBox="1"/>
          <p:nvPr/>
        </p:nvSpPr>
        <p:spPr>
          <a:xfrm>
            <a:off x="7653528" y="3364992"/>
            <a:ext cx="1005840" cy="274320"/>
          </a:xfrm>
          <a:prstGeom prst="rect">
            <a:avLst/>
          </a:prstGeom>
          <a:noFill/>
          <a:ln/>
        </p:spPr>
        <p:txBody>
          <a:bodyPr wrap="square" lIns="0" tIns="0" rIns="0" bIns="0" rtlCol="0" anchor="ctr"/>
          <a:lstStyle/>
          <a:p>
            <a:pPr marL="0" indent="0" algn="ctr">
              <a:buNone/>
            </a:pPr>
            <a:r>
              <a:rPr lang="en-US" sz="700" dirty="0">
                <a:solidFill>
                  <a:srgbClr val="8A8F98"/>
                </a:solidFill>
                <a:latin typeface="Poppins" pitchFamily="34" charset="0"/>
                <a:ea typeface="Poppins" pitchFamily="34" charset="-122"/>
                <a:cs typeface="Poppins" pitchFamily="34" charset="-120"/>
              </a:rPr>
              <a:t>Measure progress</a:t>
            </a:r>
            <a:endParaRPr lang="en-US" sz="700" dirty="0"/>
          </a:p>
        </p:txBody>
      </p:sp>
      <p:sp>
        <p:nvSpPr>
          <p:cNvPr id="57" name="Text 55"/>
          <p:cNvSpPr txBox="1"/>
          <p:nvPr/>
        </p:nvSpPr>
        <p:spPr>
          <a:xfrm>
            <a:off x="4572000" y="3749040"/>
            <a:ext cx="4114800" cy="274320"/>
          </a:xfrm>
          <a:prstGeom prst="rect">
            <a:avLst/>
          </a:prstGeom>
          <a:noFill/>
          <a:ln/>
        </p:spPr>
        <p:txBody>
          <a:bodyPr wrap="square" lIns="0" tIns="0" rIns="0" bIns="0" rtlCol="0" anchor="ctr"/>
          <a:lstStyle/>
          <a:p>
            <a:pPr marL="0" indent="0" algn="ctr">
              <a:buNone/>
            </a:pPr>
            <a:r>
              <a:rPr lang="en-US" sz="1100" b="1" dirty="0">
                <a:solidFill>
                  <a:srgbClr val="D4AF37"/>
                </a:solidFill>
                <a:latin typeface="Poppins" pitchFamily="34" charset="0"/>
                <a:ea typeface="Poppins" pitchFamily="34" charset="-122"/>
                <a:cs typeface="Poppins" pitchFamily="34" charset="-120"/>
              </a:rPr>
              <a:t>Player  ➜  Current Self  ➜  Peak Self</a:t>
            </a:r>
            <a:endParaRPr lang="en-US" sz="1100" dirty="0"/>
          </a:p>
        </p:txBody>
      </p:sp>
      <p:sp>
        <p:nvSpPr>
          <p:cNvPr id="58" name="Shape 56"/>
          <p:cNvSpPr/>
          <p:nvPr/>
        </p:nvSpPr>
        <p:spPr>
          <a:xfrm>
            <a:off x="4572000" y="4069080"/>
            <a:ext cx="4114800" cy="0"/>
          </a:xfrm>
          <a:prstGeom prst="line">
            <a:avLst/>
          </a:prstGeom>
          <a:noFill/>
          <a:ln w="19050">
            <a:solidFill>
              <a:srgbClr val="10B981"/>
            </a:solidFill>
            <a:prstDash val="solid"/>
          </a:ln>
        </p:spPr>
      </p:sp>
      <p:sp>
        <p:nvSpPr>
          <p:cNvPr id="59" name="Text 57"/>
          <p:cNvSpPr txBox="1"/>
          <p:nvPr/>
        </p:nvSpPr>
        <p:spPr>
          <a:xfrm>
            <a:off x="457200" y="4434840"/>
            <a:ext cx="8229600" cy="365760"/>
          </a:xfrm>
          <a:prstGeom prst="rect">
            <a:avLst/>
          </a:prstGeom>
          <a:noFill/>
          <a:ln/>
        </p:spPr>
        <p:txBody>
          <a:bodyPr wrap="square" lIns="0" tIns="0" rIns="0" bIns="0" rtlCol="0" anchor="ctr"/>
          <a:lstStyle/>
          <a:p>
            <a:pPr marL="0" indent="0" algn="ctr">
              <a:buNone/>
            </a:pPr>
            <a:r>
              <a:rPr lang="en-US" sz="1300" i="1" dirty="0">
                <a:solidFill>
                  <a:srgbClr val="FFFFFF"/>
                </a:solidFill>
                <a:latin typeface="Poppins" pitchFamily="34" charset="0"/>
                <a:ea typeface="Poppins" pitchFamily="34" charset="-122"/>
                <a:cs typeface="Poppins" pitchFamily="34" charset="-120"/>
              </a:rPr>
              <a:t>“Improve the player without replacing the player's identity.”</a:t>
            </a:r>
            <a:endParaRPr lang="en-US" sz="130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D"/>
        </a:solidFill>
        <a:effectLst/>
      </p:bgPr>
    </p:bg>
    <p:spTree>
      <p:nvGrpSpPr>
        <p:cNvPr id="1" name=""/>
        <p:cNvGrpSpPr/>
        <p:nvPr/>
      </p:nvGrpSpPr>
      <p:grpSpPr>
        <a:xfrm>
          <a:off x="0" y="0"/>
          <a:ext cx="0" cy="0"/>
          <a:chOff x="0" y="0"/>
          <a:chExt cx="0" cy="0"/>
        </a:xfrm>
      </p:grpSpPr>
      <p:sp>
        <p:nvSpPr>
          <p:cNvPr id="2" name="Shape 0"/>
          <p:cNvSpPr/>
          <p:nvPr/>
        </p:nvSpPr>
        <p:spPr>
          <a:xfrm>
            <a:off x="6309360" y="2834640"/>
            <a:ext cx="457200" cy="457200"/>
          </a:xfrm>
          <a:prstGeom prst="rect">
            <a:avLst/>
          </a:prstGeom>
          <a:solidFill>
            <a:srgbClr val="D4AF37">
              <a:alpha val="4000"/>
            </a:srgbClr>
          </a:solidFill>
          <a:ln w="3175">
            <a:solidFill>
              <a:srgbClr val="D4AF37">
                <a:alpha val="10000"/>
              </a:srgbClr>
            </a:solidFill>
            <a:prstDash val="solid"/>
          </a:ln>
        </p:spPr>
      </p:sp>
      <p:sp>
        <p:nvSpPr>
          <p:cNvPr id="3" name="Shape 1"/>
          <p:cNvSpPr/>
          <p:nvPr/>
        </p:nvSpPr>
        <p:spPr>
          <a:xfrm>
            <a:off x="6309360" y="3749040"/>
            <a:ext cx="457200" cy="457200"/>
          </a:xfrm>
          <a:prstGeom prst="rect">
            <a:avLst/>
          </a:prstGeom>
          <a:solidFill>
            <a:srgbClr val="D4AF37">
              <a:alpha val="4000"/>
            </a:srgbClr>
          </a:solidFill>
          <a:ln w="3175">
            <a:solidFill>
              <a:srgbClr val="D4AF37">
                <a:alpha val="10000"/>
              </a:srgbClr>
            </a:solidFill>
            <a:prstDash val="solid"/>
          </a:ln>
        </p:spPr>
      </p:sp>
      <p:sp>
        <p:nvSpPr>
          <p:cNvPr id="4" name="Shape 2"/>
          <p:cNvSpPr/>
          <p:nvPr/>
        </p:nvSpPr>
        <p:spPr>
          <a:xfrm>
            <a:off x="6309360" y="4663440"/>
            <a:ext cx="457200" cy="457200"/>
          </a:xfrm>
          <a:prstGeom prst="rect">
            <a:avLst/>
          </a:prstGeom>
          <a:solidFill>
            <a:srgbClr val="D4AF37">
              <a:alpha val="4000"/>
            </a:srgbClr>
          </a:solidFill>
          <a:ln w="3175">
            <a:solidFill>
              <a:srgbClr val="D4AF37">
                <a:alpha val="10000"/>
              </a:srgbClr>
            </a:solidFill>
            <a:prstDash val="solid"/>
          </a:ln>
        </p:spPr>
      </p:sp>
      <p:sp>
        <p:nvSpPr>
          <p:cNvPr id="5" name="Shape 3"/>
          <p:cNvSpPr/>
          <p:nvPr/>
        </p:nvSpPr>
        <p:spPr>
          <a:xfrm>
            <a:off x="6766560" y="3291840"/>
            <a:ext cx="457200" cy="457200"/>
          </a:xfrm>
          <a:prstGeom prst="rect">
            <a:avLst/>
          </a:prstGeom>
          <a:solidFill>
            <a:srgbClr val="D4AF37">
              <a:alpha val="4000"/>
            </a:srgbClr>
          </a:solidFill>
          <a:ln w="3175">
            <a:solidFill>
              <a:srgbClr val="D4AF37">
                <a:alpha val="10000"/>
              </a:srgbClr>
            </a:solidFill>
            <a:prstDash val="solid"/>
          </a:ln>
        </p:spPr>
      </p:sp>
      <p:sp>
        <p:nvSpPr>
          <p:cNvPr id="6" name="Shape 4"/>
          <p:cNvSpPr/>
          <p:nvPr/>
        </p:nvSpPr>
        <p:spPr>
          <a:xfrm>
            <a:off x="6766560" y="4206240"/>
            <a:ext cx="457200" cy="457200"/>
          </a:xfrm>
          <a:prstGeom prst="rect">
            <a:avLst/>
          </a:prstGeom>
          <a:solidFill>
            <a:srgbClr val="D4AF37">
              <a:alpha val="4000"/>
            </a:srgbClr>
          </a:solidFill>
          <a:ln w="3175">
            <a:solidFill>
              <a:srgbClr val="D4AF37">
                <a:alpha val="10000"/>
              </a:srgbClr>
            </a:solidFill>
            <a:prstDash val="solid"/>
          </a:ln>
        </p:spPr>
      </p:sp>
      <p:sp>
        <p:nvSpPr>
          <p:cNvPr id="7" name="Shape 5"/>
          <p:cNvSpPr/>
          <p:nvPr/>
        </p:nvSpPr>
        <p:spPr>
          <a:xfrm>
            <a:off x="6766560" y="5120640"/>
            <a:ext cx="457200" cy="457200"/>
          </a:xfrm>
          <a:prstGeom prst="rect">
            <a:avLst/>
          </a:prstGeom>
          <a:solidFill>
            <a:srgbClr val="D4AF37">
              <a:alpha val="4000"/>
            </a:srgbClr>
          </a:solidFill>
          <a:ln w="3175">
            <a:solidFill>
              <a:srgbClr val="D4AF37">
                <a:alpha val="10000"/>
              </a:srgbClr>
            </a:solidFill>
            <a:prstDash val="solid"/>
          </a:ln>
        </p:spPr>
      </p:sp>
      <p:sp>
        <p:nvSpPr>
          <p:cNvPr id="8" name="Shape 6"/>
          <p:cNvSpPr/>
          <p:nvPr/>
        </p:nvSpPr>
        <p:spPr>
          <a:xfrm>
            <a:off x="7223760" y="2834640"/>
            <a:ext cx="457200" cy="457200"/>
          </a:xfrm>
          <a:prstGeom prst="rect">
            <a:avLst/>
          </a:prstGeom>
          <a:solidFill>
            <a:srgbClr val="D4AF37">
              <a:alpha val="4000"/>
            </a:srgbClr>
          </a:solidFill>
          <a:ln w="3175">
            <a:solidFill>
              <a:srgbClr val="D4AF37">
                <a:alpha val="10000"/>
              </a:srgbClr>
            </a:solidFill>
            <a:prstDash val="solid"/>
          </a:ln>
        </p:spPr>
      </p:sp>
      <p:sp>
        <p:nvSpPr>
          <p:cNvPr id="9" name="Shape 7"/>
          <p:cNvSpPr/>
          <p:nvPr/>
        </p:nvSpPr>
        <p:spPr>
          <a:xfrm>
            <a:off x="7223760" y="3749040"/>
            <a:ext cx="457200" cy="457200"/>
          </a:xfrm>
          <a:prstGeom prst="rect">
            <a:avLst/>
          </a:prstGeom>
          <a:solidFill>
            <a:srgbClr val="D4AF37">
              <a:alpha val="4000"/>
            </a:srgbClr>
          </a:solidFill>
          <a:ln w="3175">
            <a:solidFill>
              <a:srgbClr val="D4AF37">
                <a:alpha val="10000"/>
              </a:srgbClr>
            </a:solidFill>
            <a:prstDash val="solid"/>
          </a:ln>
        </p:spPr>
      </p:sp>
      <p:sp>
        <p:nvSpPr>
          <p:cNvPr id="10" name="Shape 8"/>
          <p:cNvSpPr/>
          <p:nvPr/>
        </p:nvSpPr>
        <p:spPr>
          <a:xfrm>
            <a:off x="7223760" y="4663440"/>
            <a:ext cx="457200" cy="457200"/>
          </a:xfrm>
          <a:prstGeom prst="rect">
            <a:avLst/>
          </a:prstGeom>
          <a:solidFill>
            <a:srgbClr val="D4AF37">
              <a:alpha val="4000"/>
            </a:srgbClr>
          </a:solidFill>
          <a:ln w="3175">
            <a:solidFill>
              <a:srgbClr val="D4AF37">
                <a:alpha val="10000"/>
              </a:srgbClr>
            </a:solidFill>
            <a:prstDash val="solid"/>
          </a:ln>
        </p:spPr>
      </p:sp>
      <p:sp>
        <p:nvSpPr>
          <p:cNvPr id="11" name="Shape 9"/>
          <p:cNvSpPr/>
          <p:nvPr/>
        </p:nvSpPr>
        <p:spPr>
          <a:xfrm>
            <a:off x="7680960" y="3291840"/>
            <a:ext cx="457200" cy="457200"/>
          </a:xfrm>
          <a:prstGeom prst="rect">
            <a:avLst/>
          </a:prstGeom>
          <a:solidFill>
            <a:srgbClr val="D4AF37">
              <a:alpha val="4000"/>
            </a:srgbClr>
          </a:solidFill>
          <a:ln w="3175">
            <a:solidFill>
              <a:srgbClr val="D4AF37">
                <a:alpha val="10000"/>
              </a:srgbClr>
            </a:solidFill>
            <a:prstDash val="solid"/>
          </a:ln>
        </p:spPr>
      </p:sp>
      <p:sp>
        <p:nvSpPr>
          <p:cNvPr id="12" name="Shape 10"/>
          <p:cNvSpPr/>
          <p:nvPr/>
        </p:nvSpPr>
        <p:spPr>
          <a:xfrm>
            <a:off x="7680960" y="4206240"/>
            <a:ext cx="457200" cy="457200"/>
          </a:xfrm>
          <a:prstGeom prst="rect">
            <a:avLst/>
          </a:prstGeom>
          <a:solidFill>
            <a:srgbClr val="D4AF37">
              <a:alpha val="4000"/>
            </a:srgbClr>
          </a:solidFill>
          <a:ln w="3175">
            <a:solidFill>
              <a:srgbClr val="D4AF37">
                <a:alpha val="10000"/>
              </a:srgbClr>
            </a:solidFill>
            <a:prstDash val="solid"/>
          </a:ln>
        </p:spPr>
      </p:sp>
      <p:sp>
        <p:nvSpPr>
          <p:cNvPr id="13" name="Shape 11"/>
          <p:cNvSpPr/>
          <p:nvPr/>
        </p:nvSpPr>
        <p:spPr>
          <a:xfrm>
            <a:off x="7680960" y="5120640"/>
            <a:ext cx="457200" cy="457200"/>
          </a:xfrm>
          <a:prstGeom prst="rect">
            <a:avLst/>
          </a:prstGeom>
          <a:solidFill>
            <a:srgbClr val="D4AF37">
              <a:alpha val="4000"/>
            </a:srgbClr>
          </a:solidFill>
          <a:ln w="3175">
            <a:solidFill>
              <a:srgbClr val="D4AF37">
                <a:alpha val="10000"/>
              </a:srgbClr>
            </a:solidFill>
            <a:prstDash val="solid"/>
          </a:ln>
        </p:spPr>
      </p:sp>
      <p:sp>
        <p:nvSpPr>
          <p:cNvPr id="14" name="Shape 12"/>
          <p:cNvSpPr/>
          <p:nvPr/>
        </p:nvSpPr>
        <p:spPr>
          <a:xfrm>
            <a:off x="8138160" y="2834640"/>
            <a:ext cx="457200" cy="457200"/>
          </a:xfrm>
          <a:prstGeom prst="rect">
            <a:avLst/>
          </a:prstGeom>
          <a:solidFill>
            <a:srgbClr val="D4AF37">
              <a:alpha val="4000"/>
            </a:srgbClr>
          </a:solidFill>
          <a:ln w="3175">
            <a:solidFill>
              <a:srgbClr val="D4AF37">
                <a:alpha val="10000"/>
              </a:srgbClr>
            </a:solidFill>
            <a:prstDash val="solid"/>
          </a:ln>
        </p:spPr>
      </p:sp>
      <p:sp>
        <p:nvSpPr>
          <p:cNvPr id="15" name="Shape 13"/>
          <p:cNvSpPr/>
          <p:nvPr/>
        </p:nvSpPr>
        <p:spPr>
          <a:xfrm>
            <a:off x="8138160" y="3749040"/>
            <a:ext cx="457200" cy="457200"/>
          </a:xfrm>
          <a:prstGeom prst="rect">
            <a:avLst/>
          </a:prstGeom>
          <a:solidFill>
            <a:srgbClr val="D4AF37">
              <a:alpha val="4000"/>
            </a:srgbClr>
          </a:solidFill>
          <a:ln w="3175">
            <a:solidFill>
              <a:srgbClr val="D4AF37">
                <a:alpha val="10000"/>
              </a:srgbClr>
            </a:solidFill>
            <a:prstDash val="solid"/>
          </a:ln>
        </p:spPr>
      </p:sp>
      <p:sp>
        <p:nvSpPr>
          <p:cNvPr id="16" name="Shape 14"/>
          <p:cNvSpPr/>
          <p:nvPr/>
        </p:nvSpPr>
        <p:spPr>
          <a:xfrm>
            <a:off x="8138160" y="4663440"/>
            <a:ext cx="457200" cy="457200"/>
          </a:xfrm>
          <a:prstGeom prst="rect">
            <a:avLst/>
          </a:prstGeom>
          <a:solidFill>
            <a:srgbClr val="D4AF37">
              <a:alpha val="4000"/>
            </a:srgbClr>
          </a:solidFill>
          <a:ln w="3175">
            <a:solidFill>
              <a:srgbClr val="D4AF37">
                <a:alpha val="10000"/>
              </a:srgbClr>
            </a:solidFill>
            <a:prstDash val="solid"/>
          </a:ln>
        </p:spPr>
      </p:sp>
      <p:sp>
        <p:nvSpPr>
          <p:cNvPr id="17" name="Shape 15"/>
          <p:cNvSpPr/>
          <p:nvPr/>
        </p:nvSpPr>
        <p:spPr>
          <a:xfrm>
            <a:off x="8595360" y="3291840"/>
            <a:ext cx="457200" cy="457200"/>
          </a:xfrm>
          <a:prstGeom prst="rect">
            <a:avLst/>
          </a:prstGeom>
          <a:solidFill>
            <a:srgbClr val="D4AF37">
              <a:alpha val="4000"/>
            </a:srgbClr>
          </a:solidFill>
          <a:ln w="3175">
            <a:solidFill>
              <a:srgbClr val="D4AF37">
                <a:alpha val="10000"/>
              </a:srgbClr>
            </a:solidFill>
            <a:prstDash val="solid"/>
          </a:ln>
        </p:spPr>
      </p:sp>
      <p:sp>
        <p:nvSpPr>
          <p:cNvPr id="18" name="Shape 16"/>
          <p:cNvSpPr/>
          <p:nvPr/>
        </p:nvSpPr>
        <p:spPr>
          <a:xfrm>
            <a:off x="8595360" y="4206240"/>
            <a:ext cx="457200" cy="457200"/>
          </a:xfrm>
          <a:prstGeom prst="rect">
            <a:avLst/>
          </a:prstGeom>
          <a:solidFill>
            <a:srgbClr val="D4AF37">
              <a:alpha val="4000"/>
            </a:srgbClr>
          </a:solidFill>
          <a:ln w="3175">
            <a:solidFill>
              <a:srgbClr val="D4AF37">
                <a:alpha val="10000"/>
              </a:srgbClr>
            </a:solidFill>
            <a:prstDash val="solid"/>
          </a:ln>
        </p:spPr>
      </p:sp>
      <p:sp>
        <p:nvSpPr>
          <p:cNvPr id="19" name="Shape 17"/>
          <p:cNvSpPr/>
          <p:nvPr/>
        </p:nvSpPr>
        <p:spPr>
          <a:xfrm>
            <a:off x="8595360" y="5120640"/>
            <a:ext cx="457200" cy="457200"/>
          </a:xfrm>
          <a:prstGeom prst="rect">
            <a:avLst/>
          </a:prstGeom>
          <a:solidFill>
            <a:srgbClr val="D4AF37">
              <a:alpha val="4000"/>
            </a:srgbClr>
          </a:solidFill>
          <a:ln w="3175">
            <a:solidFill>
              <a:srgbClr val="D4AF37">
                <a:alpha val="10000"/>
              </a:srgbClr>
            </a:solidFill>
            <a:prstDash val="solid"/>
          </a:ln>
        </p:spPr>
      </p:sp>
      <p:sp>
        <p:nvSpPr>
          <p:cNvPr id="21" name="Text 19"/>
          <p:cNvSpPr txBox="1"/>
          <p:nvPr/>
        </p:nvSpPr>
        <p:spPr>
          <a:xfrm>
            <a:off x="457200" y="411480"/>
            <a:ext cx="7315200" cy="457200"/>
          </a:xfrm>
          <a:prstGeom prst="rect">
            <a:avLst/>
          </a:prstGeom>
          <a:noFill/>
          <a:ln/>
        </p:spPr>
        <p:txBody>
          <a:bodyPr wrap="square" lIns="0" tIns="0" rIns="0" bIns="0" rtlCol="0" anchor="ctr"/>
          <a:lstStyle/>
          <a:p>
            <a:pPr marL="0" indent="0">
              <a:buNone/>
            </a:pPr>
            <a:r>
              <a:rPr lang="en-US" sz="2200" b="1" dirty="0">
                <a:solidFill>
                  <a:srgbClr val="FFFFFF"/>
                </a:solidFill>
                <a:latin typeface="Poppins" pitchFamily="34" charset="0"/>
                <a:ea typeface="Poppins" pitchFamily="34" charset="-122"/>
                <a:cs typeface="Poppins" pitchFamily="34" charset="-120"/>
              </a:rPr>
              <a:t>Chess Evolve - Architecture</a:t>
            </a:r>
            <a:endParaRPr lang="en-US" sz="2200" dirty="0"/>
          </a:p>
        </p:txBody>
      </p:sp>
      <p:sp>
        <p:nvSpPr>
          <p:cNvPr id="22" name="Shape 20"/>
          <p:cNvSpPr/>
          <p:nvPr/>
        </p:nvSpPr>
        <p:spPr>
          <a:xfrm>
            <a:off x="457200" y="384048"/>
            <a:ext cx="457200" cy="0"/>
          </a:xfrm>
          <a:prstGeom prst="line">
            <a:avLst/>
          </a:prstGeom>
          <a:noFill/>
          <a:ln w="19050">
            <a:solidFill>
              <a:srgbClr val="D4AF37"/>
            </a:solidFill>
            <a:prstDash val="solid"/>
          </a:ln>
        </p:spPr>
      </p:sp>
      <p:sp>
        <p:nvSpPr>
          <p:cNvPr id="23" name="Text 21"/>
          <p:cNvSpPr txBox="1"/>
          <p:nvPr/>
        </p:nvSpPr>
        <p:spPr>
          <a:xfrm>
            <a:off x="457200" y="914400"/>
            <a:ext cx="914400" cy="137160"/>
          </a:xfrm>
          <a:prstGeom prst="rect">
            <a:avLst/>
          </a:prstGeom>
          <a:noFill/>
          <a:ln/>
        </p:spPr>
        <p:txBody>
          <a:bodyPr wrap="square" lIns="0" tIns="0" rIns="0" bIns="0" rtlCol="0" anchor="ctr"/>
          <a:lstStyle/>
          <a:p>
            <a:pPr marL="0" indent="0">
              <a:buNone/>
            </a:pPr>
            <a:r>
              <a:rPr lang="en-US" sz="700" b="1" kern="0" spc="300" dirty="0">
                <a:solidFill>
                  <a:srgbClr val="8A8F98"/>
                </a:solidFill>
                <a:latin typeface="Poppins" pitchFamily="34" charset="0"/>
                <a:ea typeface="Poppins" pitchFamily="34" charset="-122"/>
                <a:cs typeface="Poppins" pitchFamily="34" charset="-120"/>
              </a:rPr>
              <a:t>USER</a:t>
            </a:r>
            <a:endParaRPr lang="en-US" sz="700" dirty="0"/>
          </a:p>
        </p:txBody>
      </p:sp>
      <p:sp>
        <p:nvSpPr>
          <p:cNvPr id="24" name="REACT + VITE"/>
          <p:cNvSpPr/>
          <p:nvPr/>
        </p:nvSpPr>
        <p:spPr>
          <a:xfrm>
            <a:off x="457200" y="109728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25" name="Text 23"/>
          <p:cNvSpPr txBox="1"/>
          <p:nvPr/>
        </p:nvSpPr>
        <p:spPr>
          <a:xfrm>
            <a:off x="566928" y="115214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REACT + VITE</a:t>
            </a:r>
            <a:endParaRPr lang="en-US" sz="900" dirty="0"/>
          </a:p>
        </p:txBody>
      </p:sp>
      <p:sp>
        <p:nvSpPr>
          <p:cNvPr id="26" name="Text 24"/>
          <p:cNvSpPr txBox="1"/>
          <p:nvPr/>
        </p:nvSpPr>
        <p:spPr>
          <a:xfrm>
            <a:off x="566928" y="137160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Frontend client</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Dashboard · Chessboard</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Training · Arena · Coach</a:t>
            </a:r>
            <a:endParaRPr lang="en-US" sz="750" dirty="0"/>
          </a:p>
        </p:txBody>
      </p:sp>
      <p:sp>
        <p:nvSpPr>
          <p:cNvPr id="27" name="NODE.JS + EXPRESS"/>
          <p:cNvSpPr/>
          <p:nvPr/>
        </p:nvSpPr>
        <p:spPr>
          <a:xfrm>
            <a:off x="2587752" y="109728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28" name="Text 26"/>
          <p:cNvSpPr txBox="1"/>
          <p:nvPr/>
        </p:nvSpPr>
        <p:spPr>
          <a:xfrm>
            <a:off x="2697480" y="115214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NODE.JS + EXPRESS</a:t>
            </a:r>
            <a:endParaRPr lang="en-US" sz="900" dirty="0"/>
          </a:p>
        </p:txBody>
      </p:sp>
      <p:sp>
        <p:nvSpPr>
          <p:cNvPr id="29" name="Text 27"/>
          <p:cNvSpPr txBox="1"/>
          <p:nvPr/>
        </p:nvSpPr>
        <p:spPr>
          <a:xfrm>
            <a:off x="2697480" y="1371600"/>
            <a:ext cx="1645920" cy="914400"/>
          </a:xfrm>
          <a:prstGeom prst="rect">
            <a:avLst/>
          </a:prstGeom>
          <a:noFill/>
          <a:ln/>
        </p:spPr>
        <p:txBody>
          <a:bodyPr wrap="square" lIns="0" tIns="0" rIns="0" bIns="0" rtlCol="0" anchor="t"/>
          <a:lstStyle/>
          <a:p>
            <a:pPr marL="228600" indent="-22860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API orchestration</a:t>
            </a:r>
            <a:endParaRPr lang="en-US" sz="750" dirty="0"/>
          </a:p>
          <a:p>
            <a:pPr marL="228600" indent="-22860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Supabase JWT · Prisma ORM</a:t>
            </a:r>
            <a:endParaRPr lang="en-US" sz="750" dirty="0"/>
          </a:p>
          <a:p>
            <a:pPr marL="228600" indent="-22860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REST APIs</a:t>
            </a:r>
            <a:endParaRPr lang="en-US" sz="750" dirty="0"/>
          </a:p>
        </p:txBody>
      </p:sp>
      <p:sp>
        <p:nvSpPr>
          <p:cNvPr id="30" name="SUPABASE"/>
          <p:cNvSpPr/>
          <p:nvPr/>
        </p:nvSpPr>
        <p:spPr>
          <a:xfrm>
            <a:off x="4718304" y="109728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31" name="Text 29"/>
          <p:cNvSpPr txBox="1"/>
          <p:nvPr/>
        </p:nvSpPr>
        <p:spPr>
          <a:xfrm>
            <a:off x="4828032" y="115214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SUPABASE</a:t>
            </a:r>
            <a:endParaRPr lang="en-US" sz="900" dirty="0"/>
          </a:p>
        </p:txBody>
      </p:sp>
      <p:sp>
        <p:nvSpPr>
          <p:cNvPr id="32" name="Text 30"/>
          <p:cNvSpPr txBox="1"/>
          <p:nvPr/>
        </p:nvSpPr>
        <p:spPr>
          <a:xfrm>
            <a:off x="4828032" y="137160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Google Auth · PostgreSQL</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Storage</a:t>
            </a:r>
            <a:endParaRPr lang="en-US" sz="750" dirty="0"/>
          </a:p>
        </p:txBody>
      </p:sp>
      <p:sp>
        <p:nvSpPr>
          <p:cNvPr id="33" name="REDIS + BULLMQ"/>
          <p:cNvSpPr/>
          <p:nvPr/>
        </p:nvSpPr>
        <p:spPr>
          <a:xfrm>
            <a:off x="6848856" y="109728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34" name="Text 32"/>
          <p:cNvSpPr txBox="1"/>
          <p:nvPr/>
        </p:nvSpPr>
        <p:spPr>
          <a:xfrm>
            <a:off x="6958584" y="115214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REDIS + BULLMQ</a:t>
            </a:r>
            <a:endParaRPr lang="en-US" sz="900" dirty="0"/>
          </a:p>
        </p:txBody>
      </p:sp>
      <p:sp>
        <p:nvSpPr>
          <p:cNvPr id="35" name="Text 33"/>
          <p:cNvSpPr txBox="1"/>
          <p:nvPr/>
        </p:nvSpPr>
        <p:spPr>
          <a:xfrm>
            <a:off x="6958584" y="137160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Async jobs · Sync workers</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ML workers · Retraining</a:t>
            </a:r>
            <a:endParaRPr lang="en-US" sz="750" dirty="0"/>
          </a:p>
        </p:txBody>
      </p:sp>
      <p:sp>
        <p:nvSpPr>
          <p:cNvPr id="36" name="Text 34"/>
          <p:cNvSpPr txBox="1"/>
          <p:nvPr/>
        </p:nvSpPr>
        <p:spPr>
          <a:xfrm>
            <a:off x="2286000" y="1572768"/>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37" name="Text 35"/>
          <p:cNvSpPr txBox="1"/>
          <p:nvPr/>
        </p:nvSpPr>
        <p:spPr>
          <a:xfrm>
            <a:off x="4416552" y="1572768"/>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38" name="Text 36"/>
          <p:cNvSpPr txBox="1"/>
          <p:nvPr/>
        </p:nvSpPr>
        <p:spPr>
          <a:xfrm>
            <a:off x="6547104" y="1572768"/>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39" name="CHESS.COM PUBAPI"/>
          <p:cNvSpPr/>
          <p:nvPr/>
        </p:nvSpPr>
        <p:spPr>
          <a:xfrm>
            <a:off x="457200" y="260604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40" name="Text 38"/>
          <p:cNvSpPr txBox="1"/>
          <p:nvPr/>
        </p:nvSpPr>
        <p:spPr>
          <a:xfrm>
            <a:off x="566928" y="266090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CHESS.COM PUBAPI</a:t>
            </a:r>
            <a:endParaRPr lang="en-US" sz="900" dirty="0"/>
          </a:p>
        </p:txBody>
      </p:sp>
      <p:sp>
        <p:nvSpPr>
          <p:cNvPr id="41" name="Text 39"/>
          <p:cNvSpPr txBox="1"/>
          <p:nvPr/>
        </p:nvSpPr>
        <p:spPr>
          <a:xfrm>
            <a:off x="566928" y="288036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Game archives → PGN</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Ingested via backend</a:t>
            </a:r>
            <a:endParaRPr lang="en-US" sz="750" dirty="0"/>
          </a:p>
        </p:txBody>
      </p:sp>
      <p:sp>
        <p:nvSpPr>
          <p:cNvPr id="42" name="STOCKFISH 16"/>
          <p:cNvSpPr/>
          <p:nvPr/>
        </p:nvSpPr>
        <p:spPr>
          <a:xfrm>
            <a:off x="2587752" y="260604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43" name="Text 41"/>
          <p:cNvSpPr txBox="1"/>
          <p:nvPr/>
        </p:nvSpPr>
        <p:spPr>
          <a:xfrm>
            <a:off x="2697480" y="266090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STOCKFISH 19</a:t>
            </a:r>
            <a:endParaRPr lang="en-US" sz="900" dirty="0"/>
          </a:p>
        </p:txBody>
      </p:sp>
      <p:sp>
        <p:nvSpPr>
          <p:cNvPr id="44" name="Text 42"/>
          <p:cNvSpPr txBox="1"/>
          <p:nvPr/>
        </p:nvSpPr>
        <p:spPr>
          <a:xfrm>
            <a:off x="2697480" y="288036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UCI engine</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Candidates · CPL</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Best move · Move quality</a:t>
            </a:r>
            <a:endParaRPr lang="en-US" sz="750" dirty="0"/>
          </a:p>
        </p:txBody>
      </p:sp>
      <p:sp>
        <p:nvSpPr>
          <p:cNvPr id="45" name="FASTAPI + PYTORCH"/>
          <p:cNvSpPr/>
          <p:nvPr/>
        </p:nvSpPr>
        <p:spPr>
          <a:xfrm>
            <a:off x="4718304" y="2606040"/>
            <a:ext cx="1828800" cy="1234440"/>
          </a:xfrm>
          <a:prstGeom prst="roundRect">
            <a:avLst>
              <a:gd name="adj" fmla="val 5926"/>
            </a:avLst>
          </a:prstGeom>
          <a:solidFill>
            <a:srgbClr val="17181D">
              <a:alpha val="95000"/>
            </a:srgbClr>
          </a:solidFill>
          <a:ln w="9525">
            <a:solidFill>
              <a:srgbClr val="D4AF37">
                <a:alpha val="55000"/>
              </a:srgbClr>
            </a:solidFill>
            <a:prstDash val="solid"/>
          </a:ln>
        </p:spPr>
      </p:sp>
      <p:sp>
        <p:nvSpPr>
          <p:cNvPr id="46" name="Text 44"/>
          <p:cNvSpPr txBox="1"/>
          <p:nvPr/>
        </p:nvSpPr>
        <p:spPr>
          <a:xfrm>
            <a:off x="4828032" y="2660904"/>
            <a:ext cx="1645920" cy="228600"/>
          </a:xfrm>
          <a:prstGeom prst="rect">
            <a:avLst/>
          </a:prstGeom>
          <a:noFill/>
          <a:ln/>
        </p:spPr>
        <p:txBody>
          <a:bodyPr wrap="square" lIns="0" tIns="0" rIns="0" bIns="0" rtlCol="0" anchor="ctr"/>
          <a:lstStyle/>
          <a:p>
            <a:pPr marL="0" indent="0">
              <a:buNone/>
            </a:pPr>
            <a:r>
              <a:rPr lang="en-US" sz="900" b="1" dirty="0">
                <a:solidFill>
                  <a:srgbClr val="D4AF37"/>
                </a:solidFill>
                <a:latin typeface="Poppins" pitchFamily="34" charset="0"/>
                <a:ea typeface="Poppins" pitchFamily="34" charset="-122"/>
                <a:cs typeface="Poppins" pitchFamily="34" charset="-120"/>
              </a:rPr>
              <a:t>FASTAPI + PYTORCH</a:t>
            </a:r>
            <a:endParaRPr lang="en-US" sz="900" dirty="0"/>
          </a:p>
        </p:txBody>
      </p:sp>
      <p:sp>
        <p:nvSpPr>
          <p:cNvPr id="47" name="Text 45"/>
          <p:cNvSpPr txBox="1"/>
          <p:nvPr/>
        </p:nvSpPr>
        <p:spPr>
          <a:xfrm>
            <a:off x="4828032" y="288036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Feature engine</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Inference service</a:t>
            </a:r>
            <a:endParaRPr lang="en-US" sz="750" dirty="0"/>
          </a:p>
        </p:txBody>
      </p:sp>
      <p:sp>
        <p:nvSpPr>
          <p:cNvPr id="48" name="MODELS"/>
          <p:cNvSpPr/>
          <p:nvPr/>
        </p:nvSpPr>
        <p:spPr>
          <a:xfrm>
            <a:off x="6848856" y="2606040"/>
            <a:ext cx="1828800" cy="1234440"/>
          </a:xfrm>
          <a:prstGeom prst="roundRect">
            <a:avLst>
              <a:gd name="adj" fmla="val 5926"/>
            </a:avLst>
          </a:prstGeom>
          <a:solidFill>
            <a:srgbClr val="17181D">
              <a:alpha val="95000"/>
            </a:srgbClr>
          </a:solidFill>
          <a:ln w="9525">
            <a:solidFill>
              <a:srgbClr val="10B981">
                <a:alpha val="55000"/>
              </a:srgbClr>
            </a:solidFill>
            <a:prstDash val="solid"/>
          </a:ln>
        </p:spPr>
      </p:sp>
      <p:sp>
        <p:nvSpPr>
          <p:cNvPr id="49" name="Text 47"/>
          <p:cNvSpPr txBox="1"/>
          <p:nvPr/>
        </p:nvSpPr>
        <p:spPr>
          <a:xfrm>
            <a:off x="6958584" y="2660904"/>
            <a:ext cx="1645920" cy="228600"/>
          </a:xfrm>
          <a:prstGeom prst="rect">
            <a:avLst/>
          </a:prstGeom>
          <a:noFill/>
          <a:ln/>
        </p:spPr>
        <p:txBody>
          <a:bodyPr wrap="square" lIns="0" tIns="0" rIns="0" bIns="0" rtlCol="0" anchor="ctr"/>
          <a:lstStyle/>
          <a:p>
            <a:pPr marL="0" indent="0">
              <a:buNone/>
            </a:pPr>
            <a:r>
              <a:rPr lang="en-US" sz="900" b="1" dirty="0">
                <a:solidFill>
                  <a:srgbClr val="10B981"/>
                </a:solidFill>
                <a:latin typeface="Poppins" pitchFamily="34" charset="0"/>
                <a:ea typeface="Poppins" pitchFamily="34" charset="-122"/>
                <a:cs typeface="Poppins" pitchFamily="34" charset="-120"/>
              </a:rPr>
              <a:t>MODELS</a:t>
            </a:r>
            <a:endParaRPr lang="en-US" sz="900" dirty="0"/>
          </a:p>
        </p:txBody>
      </p:sp>
      <p:sp>
        <p:nvSpPr>
          <p:cNvPr id="50" name="Text 48"/>
          <p:cNvSpPr txBox="1"/>
          <p:nvPr/>
        </p:nvSpPr>
        <p:spPr>
          <a:xfrm>
            <a:off x="6958584" y="2880360"/>
            <a:ext cx="1645920" cy="91440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Current Self</a:t>
            </a:r>
            <a:endParaRPr lang="en-US" sz="750" dirty="0"/>
          </a:p>
          <a:p>
            <a:pPr marL="171450" indent="-171450">
              <a:buFont typeface="Arial" panose="020B0604020202020204" pitchFamily="34" charset="0"/>
              <a:buChar char="•"/>
            </a:pPr>
            <a:r>
              <a:rPr lang="en-US" sz="750" dirty="0">
                <a:solidFill>
                  <a:srgbClr val="C9CCD1"/>
                </a:solidFill>
                <a:latin typeface="Poppins" pitchFamily="34" charset="0"/>
                <a:ea typeface="Poppins" pitchFamily="34" charset="-122"/>
                <a:cs typeface="Poppins" pitchFamily="34" charset="-120"/>
              </a:rPr>
              <a:t>Peak Self</a:t>
            </a:r>
            <a:endParaRPr lang="en-US" sz="750" dirty="0"/>
          </a:p>
        </p:txBody>
      </p:sp>
      <p:sp>
        <p:nvSpPr>
          <p:cNvPr id="51" name="Text 49"/>
          <p:cNvSpPr txBox="1"/>
          <p:nvPr/>
        </p:nvSpPr>
        <p:spPr>
          <a:xfrm>
            <a:off x="2286000" y="3081528"/>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52" name="Text 50"/>
          <p:cNvSpPr txBox="1"/>
          <p:nvPr/>
        </p:nvSpPr>
        <p:spPr>
          <a:xfrm>
            <a:off x="4416552" y="3081528"/>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53" name="Text 51"/>
          <p:cNvSpPr txBox="1"/>
          <p:nvPr/>
        </p:nvSpPr>
        <p:spPr>
          <a:xfrm>
            <a:off x="6547104" y="3081528"/>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54" name="Text 52"/>
          <p:cNvSpPr txBox="1"/>
          <p:nvPr/>
        </p:nvSpPr>
        <p:spPr>
          <a:xfrm>
            <a:off x="457200" y="4023360"/>
            <a:ext cx="1828800" cy="137160"/>
          </a:xfrm>
          <a:prstGeom prst="rect">
            <a:avLst/>
          </a:prstGeom>
          <a:noFill/>
          <a:ln/>
        </p:spPr>
        <p:txBody>
          <a:bodyPr wrap="square" lIns="0" tIns="0" rIns="0" bIns="0" rtlCol="0" anchor="ctr"/>
          <a:lstStyle/>
          <a:p>
            <a:pPr marL="0" indent="0">
              <a:buNone/>
            </a:pPr>
            <a:r>
              <a:rPr lang="en-US" sz="700" b="1" kern="0" spc="300" dirty="0">
                <a:solidFill>
                  <a:srgbClr val="8A8F98"/>
                </a:solidFill>
                <a:latin typeface="Poppins" pitchFamily="34" charset="0"/>
                <a:ea typeface="Poppins" pitchFamily="34" charset="-122"/>
                <a:cs typeface="Poppins" pitchFamily="34" charset="-120"/>
              </a:rPr>
              <a:t>DATA FLOW</a:t>
            </a:r>
            <a:endParaRPr lang="en-US" sz="700" dirty="0"/>
          </a:p>
        </p:txBody>
      </p:sp>
      <p:sp>
        <p:nvSpPr>
          <p:cNvPr id="55" name="chip"/>
          <p:cNvSpPr/>
          <p:nvPr/>
        </p:nvSpPr>
        <p:spPr>
          <a:xfrm>
            <a:off x="457200" y="4206240"/>
            <a:ext cx="96012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56" name="Text 54"/>
          <p:cNvSpPr txBox="1"/>
          <p:nvPr/>
        </p:nvSpPr>
        <p:spPr>
          <a:xfrm>
            <a:off x="457200" y="4206240"/>
            <a:ext cx="960120" cy="274320"/>
          </a:xfrm>
          <a:prstGeom prst="rect">
            <a:avLst/>
          </a:prstGeom>
          <a:noFill/>
          <a:ln/>
        </p:spPr>
        <p:txBody>
          <a:bodyPr wrap="square" lIns="0" tIns="0" rIns="0" bIns="0" rtlCol="0" anchor="ctr"/>
          <a:lstStyle/>
          <a:p>
            <a:pPr marL="0" indent="0" algn="ctr">
              <a:buNone/>
            </a:pPr>
            <a:r>
              <a:rPr lang="en-US" sz="750" b="1" dirty="0">
                <a:solidFill>
                  <a:srgbClr val="D4AF37"/>
                </a:solidFill>
                <a:latin typeface="Poppins" pitchFamily="34" charset="0"/>
                <a:ea typeface="Poppins" pitchFamily="34" charset="-122"/>
                <a:cs typeface="Poppins" pitchFamily="34" charset="-120"/>
              </a:rPr>
              <a:t>Chess.com</a:t>
            </a:r>
            <a:endParaRPr lang="en-US" sz="750" dirty="0"/>
          </a:p>
        </p:txBody>
      </p:sp>
      <p:sp>
        <p:nvSpPr>
          <p:cNvPr id="57" name="Text 55"/>
          <p:cNvSpPr txBox="1"/>
          <p:nvPr/>
        </p:nvSpPr>
        <p:spPr>
          <a:xfrm>
            <a:off x="1344168" y="42062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58" name="chip"/>
          <p:cNvSpPr/>
          <p:nvPr/>
        </p:nvSpPr>
        <p:spPr>
          <a:xfrm>
            <a:off x="1645920" y="4206240"/>
            <a:ext cx="96012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59" name="Text 57"/>
          <p:cNvSpPr txBox="1"/>
          <p:nvPr/>
        </p:nvSpPr>
        <p:spPr>
          <a:xfrm>
            <a:off x="1645920" y="4206240"/>
            <a:ext cx="960120" cy="274320"/>
          </a:xfrm>
          <a:prstGeom prst="rect">
            <a:avLst/>
          </a:prstGeom>
          <a:noFill/>
          <a:ln/>
        </p:spPr>
        <p:txBody>
          <a:bodyPr wrap="square" lIns="0" tIns="0" rIns="0" bIns="0" rtlCol="0" anchor="ctr"/>
          <a:lstStyle/>
          <a:p>
            <a:pPr marL="0" indent="0" algn="ctr">
              <a:buNone/>
            </a:pPr>
            <a:r>
              <a:rPr lang="en-US" sz="750" b="1" dirty="0">
                <a:solidFill>
                  <a:srgbClr val="D4AF37"/>
                </a:solidFill>
                <a:latin typeface="Poppins" pitchFamily="34" charset="0"/>
                <a:ea typeface="Poppins" pitchFamily="34" charset="-122"/>
                <a:cs typeface="Poppins" pitchFamily="34" charset="-120"/>
              </a:rPr>
              <a:t>PGN</a:t>
            </a:r>
            <a:endParaRPr lang="en-US" sz="750" dirty="0"/>
          </a:p>
        </p:txBody>
      </p:sp>
      <p:sp>
        <p:nvSpPr>
          <p:cNvPr id="60" name="Text 58"/>
          <p:cNvSpPr txBox="1"/>
          <p:nvPr/>
        </p:nvSpPr>
        <p:spPr>
          <a:xfrm>
            <a:off x="2532888" y="42062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61" name="chip"/>
          <p:cNvSpPr/>
          <p:nvPr/>
        </p:nvSpPr>
        <p:spPr>
          <a:xfrm>
            <a:off x="2834640" y="4206240"/>
            <a:ext cx="96012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62" name="Text 60"/>
          <p:cNvSpPr txBox="1"/>
          <p:nvPr/>
        </p:nvSpPr>
        <p:spPr>
          <a:xfrm>
            <a:off x="2834640" y="4206240"/>
            <a:ext cx="960120" cy="274320"/>
          </a:xfrm>
          <a:prstGeom prst="rect">
            <a:avLst/>
          </a:prstGeom>
          <a:noFill/>
          <a:ln/>
        </p:spPr>
        <p:txBody>
          <a:bodyPr wrap="square" lIns="0" tIns="0" rIns="0" bIns="0" rtlCol="0" anchor="ctr"/>
          <a:lstStyle/>
          <a:p>
            <a:pPr marL="0" indent="0" algn="ctr">
              <a:buNone/>
            </a:pPr>
            <a:r>
              <a:rPr lang="en-US" sz="750" b="1" dirty="0">
                <a:solidFill>
                  <a:srgbClr val="D4AF37"/>
                </a:solidFill>
                <a:latin typeface="Poppins" pitchFamily="34" charset="0"/>
                <a:ea typeface="Poppins" pitchFamily="34" charset="-122"/>
                <a:cs typeface="Poppins" pitchFamily="34" charset="-120"/>
              </a:rPr>
              <a:t>Positions</a:t>
            </a:r>
            <a:endParaRPr lang="en-US" sz="750" dirty="0"/>
          </a:p>
        </p:txBody>
      </p:sp>
      <p:sp>
        <p:nvSpPr>
          <p:cNvPr id="63" name="Text 61"/>
          <p:cNvSpPr txBox="1"/>
          <p:nvPr/>
        </p:nvSpPr>
        <p:spPr>
          <a:xfrm>
            <a:off x="3721608" y="42062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64" name="chip"/>
          <p:cNvSpPr/>
          <p:nvPr/>
        </p:nvSpPr>
        <p:spPr>
          <a:xfrm>
            <a:off x="4023360" y="4206240"/>
            <a:ext cx="96012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65" name="Text 63"/>
          <p:cNvSpPr txBox="1"/>
          <p:nvPr/>
        </p:nvSpPr>
        <p:spPr>
          <a:xfrm>
            <a:off x="4023360" y="4206240"/>
            <a:ext cx="960120" cy="274320"/>
          </a:xfrm>
          <a:prstGeom prst="rect">
            <a:avLst/>
          </a:prstGeom>
          <a:noFill/>
          <a:ln/>
        </p:spPr>
        <p:txBody>
          <a:bodyPr wrap="square" lIns="0" tIns="0" rIns="0" bIns="0" rtlCol="0" anchor="ctr"/>
          <a:lstStyle/>
          <a:p>
            <a:pPr marL="0" indent="0" algn="ctr">
              <a:buNone/>
            </a:pPr>
            <a:r>
              <a:rPr lang="en-US" sz="750" b="1" dirty="0">
                <a:solidFill>
                  <a:srgbClr val="D4AF37"/>
                </a:solidFill>
                <a:latin typeface="Poppins" pitchFamily="34" charset="0"/>
                <a:ea typeface="Poppins" pitchFamily="34" charset="-122"/>
                <a:cs typeface="Poppins" pitchFamily="34" charset="-120"/>
              </a:rPr>
              <a:t>Stockfish</a:t>
            </a:r>
            <a:endParaRPr lang="en-US" sz="750" dirty="0"/>
          </a:p>
        </p:txBody>
      </p:sp>
      <p:sp>
        <p:nvSpPr>
          <p:cNvPr id="66" name="Text 64"/>
          <p:cNvSpPr txBox="1"/>
          <p:nvPr/>
        </p:nvSpPr>
        <p:spPr>
          <a:xfrm>
            <a:off x="4910328" y="42062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67" name="chip"/>
          <p:cNvSpPr/>
          <p:nvPr/>
        </p:nvSpPr>
        <p:spPr>
          <a:xfrm>
            <a:off x="5212080" y="4206240"/>
            <a:ext cx="96012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68" name="Text 66"/>
          <p:cNvSpPr txBox="1"/>
          <p:nvPr/>
        </p:nvSpPr>
        <p:spPr>
          <a:xfrm>
            <a:off x="5212080" y="4206240"/>
            <a:ext cx="960120" cy="274320"/>
          </a:xfrm>
          <a:prstGeom prst="rect">
            <a:avLst/>
          </a:prstGeom>
          <a:noFill/>
          <a:ln/>
        </p:spPr>
        <p:txBody>
          <a:bodyPr wrap="square" lIns="0" tIns="0" rIns="0" bIns="0" rtlCol="0" anchor="ctr"/>
          <a:lstStyle/>
          <a:p>
            <a:pPr marL="0" indent="0" algn="ctr">
              <a:buNone/>
            </a:pPr>
            <a:r>
              <a:rPr lang="en-US" sz="750" b="1" dirty="0">
                <a:solidFill>
                  <a:srgbClr val="D4AF37"/>
                </a:solidFill>
                <a:latin typeface="Poppins" pitchFamily="34" charset="0"/>
                <a:ea typeface="Poppins" pitchFamily="34" charset="-122"/>
                <a:cs typeface="Poppins" pitchFamily="34" charset="-120"/>
              </a:rPr>
              <a:t>Features</a:t>
            </a:r>
            <a:endParaRPr lang="en-US" sz="750" dirty="0"/>
          </a:p>
        </p:txBody>
      </p:sp>
      <p:sp>
        <p:nvSpPr>
          <p:cNvPr id="69" name="Text 67"/>
          <p:cNvSpPr txBox="1"/>
          <p:nvPr/>
        </p:nvSpPr>
        <p:spPr>
          <a:xfrm>
            <a:off x="6099048" y="42062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70" name="chip"/>
          <p:cNvSpPr/>
          <p:nvPr/>
        </p:nvSpPr>
        <p:spPr>
          <a:xfrm>
            <a:off x="6400800" y="4206240"/>
            <a:ext cx="960120" cy="274320"/>
          </a:xfrm>
          <a:prstGeom prst="roundRect">
            <a:avLst>
              <a:gd name="adj" fmla="val 26667"/>
            </a:avLst>
          </a:prstGeom>
          <a:solidFill>
            <a:srgbClr val="17181D">
              <a:alpha val="95000"/>
            </a:srgbClr>
          </a:solidFill>
          <a:ln w="9525">
            <a:solidFill>
              <a:srgbClr val="D4AF37">
                <a:alpha val="55000"/>
              </a:srgbClr>
            </a:solidFill>
            <a:prstDash val="solid"/>
          </a:ln>
        </p:spPr>
      </p:sp>
      <p:sp>
        <p:nvSpPr>
          <p:cNvPr id="71" name="Text 69"/>
          <p:cNvSpPr txBox="1"/>
          <p:nvPr/>
        </p:nvSpPr>
        <p:spPr>
          <a:xfrm>
            <a:off x="6400800" y="4206240"/>
            <a:ext cx="960120" cy="274320"/>
          </a:xfrm>
          <a:prstGeom prst="rect">
            <a:avLst/>
          </a:prstGeom>
          <a:noFill/>
          <a:ln/>
        </p:spPr>
        <p:txBody>
          <a:bodyPr wrap="square" lIns="0" tIns="0" rIns="0" bIns="0" rtlCol="0" anchor="ctr"/>
          <a:lstStyle/>
          <a:p>
            <a:pPr marL="0" indent="0" algn="ctr">
              <a:buNone/>
            </a:pPr>
            <a:r>
              <a:rPr lang="en-US" sz="750" b="1" dirty="0">
                <a:solidFill>
                  <a:srgbClr val="D4AF37"/>
                </a:solidFill>
                <a:latin typeface="Poppins" pitchFamily="34" charset="0"/>
                <a:ea typeface="Poppins" pitchFamily="34" charset="-122"/>
                <a:cs typeface="Poppins" pitchFamily="34" charset="-120"/>
              </a:rPr>
              <a:t>ML Dataset</a:t>
            </a:r>
            <a:endParaRPr lang="en-US" sz="750" dirty="0"/>
          </a:p>
        </p:txBody>
      </p:sp>
      <p:sp>
        <p:nvSpPr>
          <p:cNvPr id="72" name="Text 70"/>
          <p:cNvSpPr txBox="1"/>
          <p:nvPr/>
        </p:nvSpPr>
        <p:spPr>
          <a:xfrm>
            <a:off x="7287768" y="42062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73" name="chip"/>
          <p:cNvSpPr/>
          <p:nvPr/>
        </p:nvSpPr>
        <p:spPr>
          <a:xfrm>
            <a:off x="7589520" y="4206240"/>
            <a:ext cx="960120" cy="274320"/>
          </a:xfrm>
          <a:prstGeom prst="roundRect">
            <a:avLst>
              <a:gd name="adj" fmla="val 26667"/>
            </a:avLst>
          </a:prstGeom>
          <a:solidFill>
            <a:srgbClr val="17181D">
              <a:alpha val="95000"/>
            </a:srgbClr>
          </a:solidFill>
          <a:ln w="9525">
            <a:solidFill>
              <a:srgbClr val="10B981">
                <a:alpha val="55000"/>
              </a:srgbClr>
            </a:solidFill>
            <a:prstDash val="solid"/>
          </a:ln>
        </p:spPr>
      </p:sp>
      <p:sp>
        <p:nvSpPr>
          <p:cNvPr id="74" name="Text 72"/>
          <p:cNvSpPr txBox="1"/>
          <p:nvPr/>
        </p:nvSpPr>
        <p:spPr>
          <a:xfrm>
            <a:off x="7589520" y="4206240"/>
            <a:ext cx="960120" cy="274320"/>
          </a:xfrm>
          <a:prstGeom prst="rect">
            <a:avLst/>
          </a:prstGeom>
          <a:noFill/>
          <a:ln/>
        </p:spPr>
        <p:txBody>
          <a:bodyPr wrap="square" lIns="0" tIns="0" rIns="0" bIns="0" rtlCol="0" anchor="ctr"/>
          <a:lstStyle/>
          <a:p>
            <a:pPr marL="0" indent="0" algn="ctr">
              <a:buNone/>
            </a:pPr>
            <a:r>
              <a:rPr lang="en-US" sz="750" b="1" dirty="0">
                <a:solidFill>
                  <a:srgbClr val="10B981"/>
                </a:solidFill>
                <a:latin typeface="Poppins" pitchFamily="34" charset="0"/>
                <a:ea typeface="Poppins" pitchFamily="34" charset="-122"/>
                <a:cs typeface="Poppins" pitchFamily="34" charset="-120"/>
              </a:rPr>
              <a:t>Self Models</a:t>
            </a:r>
            <a:endParaRPr lang="en-US" sz="75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D"/>
        </a:solidFill>
        <a:effectLst/>
      </p:bgPr>
    </p:bg>
    <p:spTree>
      <p:nvGrpSpPr>
        <p:cNvPr id="1" name=""/>
        <p:cNvGrpSpPr/>
        <p:nvPr/>
      </p:nvGrpSpPr>
      <p:grpSpPr>
        <a:xfrm>
          <a:off x="0" y="0"/>
          <a:ext cx="0" cy="0"/>
          <a:chOff x="0" y="0"/>
          <a:chExt cx="0" cy="0"/>
        </a:xfrm>
      </p:grpSpPr>
      <p:sp>
        <p:nvSpPr>
          <p:cNvPr id="2" name="Shape 0"/>
          <p:cNvSpPr/>
          <p:nvPr/>
        </p:nvSpPr>
        <p:spPr>
          <a:xfrm>
            <a:off x="6309360" y="2834640"/>
            <a:ext cx="457200" cy="457200"/>
          </a:xfrm>
          <a:prstGeom prst="rect">
            <a:avLst/>
          </a:prstGeom>
          <a:solidFill>
            <a:srgbClr val="D4AF37">
              <a:alpha val="4000"/>
            </a:srgbClr>
          </a:solidFill>
          <a:ln w="3175">
            <a:solidFill>
              <a:srgbClr val="D4AF37">
                <a:alpha val="10000"/>
              </a:srgbClr>
            </a:solidFill>
            <a:prstDash val="solid"/>
          </a:ln>
        </p:spPr>
      </p:sp>
      <p:sp>
        <p:nvSpPr>
          <p:cNvPr id="3" name="Shape 1"/>
          <p:cNvSpPr/>
          <p:nvPr/>
        </p:nvSpPr>
        <p:spPr>
          <a:xfrm>
            <a:off x="6309360" y="3749040"/>
            <a:ext cx="457200" cy="457200"/>
          </a:xfrm>
          <a:prstGeom prst="rect">
            <a:avLst/>
          </a:prstGeom>
          <a:solidFill>
            <a:srgbClr val="D4AF37">
              <a:alpha val="4000"/>
            </a:srgbClr>
          </a:solidFill>
          <a:ln w="3175">
            <a:solidFill>
              <a:srgbClr val="D4AF37">
                <a:alpha val="10000"/>
              </a:srgbClr>
            </a:solidFill>
            <a:prstDash val="solid"/>
          </a:ln>
        </p:spPr>
      </p:sp>
      <p:sp>
        <p:nvSpPr>
          <p:cNvPr id="4" name="Shape 2"/>
          <p:cNvSpPr/>
          <p:nvPr/>
        </p:nvSpPr>
        <p:spPr>
          <a:xfrm>
            <a:off x="6309360" y="4663440"/>
            <a:ext cx="457200" cy="457200"/>
          </a:xfrm>
          <a:prstGeom prst="rect">
            <a:avLst/>
          </a:prstGeom>
          <a:solidFill>
            <a:srgbClr val="D4AF37">
              <a:alpha val="4000"/>
            </a:srgbClr>
          </a:solidFill>
          <a:ln w="3175">
            <a:solidFill>
              <a:srgbClr val="D4AF37">
                <a:alpha val="10000"/>
              </a:srgbClr>
            </a:solidFill>
            <a:prstDash val="solid"/>
          </a:ln>
        </p:spPr>
      </p:sp>
      <p:sp>
        <p:nvSpPr>
          <p:cNvPr id="5" name="Shape 3"/>
          <p:cNvSpPr/>
          <p:nvPr/>
        </p:nvSpPr>
        <p:spPr>
          <a:xfrm>
            <a:off x="6766560" y="3291840"/>
            <a:ext cx="457200" cy="457200"/>
          </a:xfrm>
          <a:prstGeom prst="rect">
            <a:avLst/>
          </a:prstGeom>
          <a:solidFill>
            <a:srgbClr val="D4AF37">
              <a:alpha val="4000"/>
            </a:srgbClr>
          </a:solidFill>
          <a:ln w="3175">
            <a:solidFill>
              <a:srgbClr val="D4AF37">
                <a:alpha val="10000"/>
              </a:srgbClr>
            </a:solidFill>
            <a:prstDash val="solid"/>
          </a:ln>
        </p:spPr>
      </p:sp>
      <p:sp>
        <p:nvSpPr>
          <p:cNvPr id="6" name="Shape 4"/>
          <p:cNvSpPr/>
          <p:nvPr/>
        </p:nvSpPr>
        <p:spPr>
          <a:xfrm>
            <a:off x="6766560" y="4206240"/>
            <a:ext cx="457200" cy="457200"/>
          </a:xfrm>
          <a:prstGeom prst="rect">
            <a:avLst/>
          </a:prstGeom>
          <a:solidFill>
            <a:srgbClr val="D4AF37">
              <a:alpha val="4000"/>
            </a:srgbClr>
          </a:solidFill>
          <a:ln w="3175">
            <a:solidFill>
              <a:srgbClr val="D4AF37">
                <a:alpha val="10000"/>
              </a:srgbClr>
            </a:solidFill>
            <a:prstDash val="solid"/>
          </a:ln>
        </p:spPr>
      </p:sp>
      <p:sp>
        <p:nvSpPr>
          <p:cNvPr id="7" name="Shape 5"/>
          <p:cNvSpPr/>
          <p:nvPr/>
        </p:nvSpPr>
        <p:spPr>
          <a:xfrm>
            <a:off x="6766560" y="5120640"/>
            <a:ext cx="457200" cy="457200"/>
          </a:xfrm>
          <a:prstGeom prst="rect">
            <a:avLst/>
          </a:prstGeom>
          <a:solidFill>
            <a:srgbClr val="D4AF37">
              <a:alpha val="4000"/>
            </a:srgbClr>
          </a:solidFill>
          <a:ln w="3175">
            <a:solidFill>
              <a:srgbClr val="D4AF37">
                <a:alpha val="10000"/>
              </a:srgbClr>
            </a:solidFill>
            <a:prstDash val="solid"/>
          </a:ln>
        </p:spPr>
      </p:sp>
      <p:sp>
        <p:nvSpPr>
          <p:cNvPr id="8" name="Shape 6"/>
          <p:cNvSpPr/>
          <p:nvPr/>
        </p:nvSpPr>
        <p:spPr>
          <a:xfrm>
            <a:off x="7223760" y="2834640"/>
            <a:ext cx="457200" cy="457200"/>
          </a:xfrm>
          <a:prstGeom prst="rect">
            <a:avLst/>
          </a:prstGeom>
          <a:solidFill>
            <a:srgbClr val="D4AF37">
              <a:alpha val="4000"/>
            </a:srgbClr>
          </a:solidFill>
          <a:ln w="3175">
            <a:solidFill>
              <a:srgbClr val="D4AF37">
                <a:alpha val="10000"/>
              </a:srgbClr>
            </a:solidFill>
            <a:prstDash val="solid"/>
          </a:ln>
        </p:spPr>
      </p:sp>
      <p:sp>
        <p:nvSpPr>
          <p:cNvPr id="9" name="Shape 7"/>
          <p:cNvSpPr/>
          <p:nvPr/>
        </p:nvSpPr>
        <p:spPr>
          <a:xfrm>
            <a:off x="7223760" y="3749040"/>
            <a:ext cx="457200" cy="457200"/>
          </a:xfrm>
          <a:prstGeom prst="rect">
            <a:avLst/>
          </a:prstGeom>
          <a:solidFill>
            <a:srgbClr val="D4AF37">
              <a:alpha val="4000"/>
            </a:srgbClr>
          </a:solidFill>
          <a:ln w="3175">
            <a:solidFill>
              <a:srgbClr val="D4AF37">
                <a:alpha val="10000"/>
              </a:srgbClr>
            </a:solidFill>
            <a:prstDash val="solid"/>
          </a:ln>
        </p:spPr>
      </p:sp>
      <p:sp>
        <p:nvSpPr>
          <p:cNvPr id="10" name="Shape 8"/>
          <p:cNvSpPr/>
          <p:nvPr/>
        </p:nvSpPr>
        <p:spPr>
          <a:xfrm>
            <a:off x="7223760" y="4663440"/>
            <a:ext cx="457200" cy="457200"/>
          </a:xfrm>
          <a:prstGeom prst="rect">
            <a:avLst/>
          </a:prstGeom>
          <a:solidFill>
            <a:srgbClr val="D4AF37">
              <a:alpha val="4000"/>
            </a:srgbClr>
          </a:solidFill>
          <a:ln w="3175">
            <a:solidFill>
              <a:srgbClr val="D4AF37">
                <a:alpha val="10000"/>
              </a:srgbClr>
            </a:solidFill>
            <a:prstDash val="solid"/>
          </a:ln>
        </p:spPr>
      </p:sp>
      <p:sp>
        <p:nvSpPr>
          <p:cNvPr id="11" name="Shape 9"/>
          <p:cNvSpPr/>
          <p:nvPr/>
        </p:nvSpPr>
        <p:spPr>
          <a:xfrm>
            <a:off x="7680960" y="3291840"/>
            <a:ext cx="457200" cy="457200"/>
          </a:xfrm>
          <a:prstGeom prst="rect">
            <a:avLst/>
          </a:prstGeom>
          <a:solidFill>
            <a:srgbClr val="D4AF37">
              <a:alpha val="4000"/>
            </a:srgbClr>
          </a:solidFill>
          <a:ln w="3175">
            <a:solidFill>
              <a:srgbClr val="D4AF37">
                <a:alpha val="10000"/>
              </a:srgbClr>
            </a:solidFill>
            <a:prstDash val="solid"/>
          </a:ln>
        </p:spPr>
      </p:sp>
      <p:sp>
        <p:nvSpPr>
          <p:cNvPr id="12" name="Shape 10"/>
          <p:cNvSpPr/>
          <p:nvPr/>
        </p:nvSpPr>
        <p:spPr>
          <a:xfrm>
            <a:off x="7680960" y="4206240"/>
            <a:ext cx="457200" cy="457200"/>
          </a:xfrm>
          <a:prstGeom prst="rect">
            <a:avLst/>
          </a:prstGeom>
          <a:solidFill>
            <a:srgbClr val="D4AF37">
              <a:alpha val="4000"/>
            </a:srgbClr>
          </a:solidFill>
          <a:ln w="3175">
            <a:solidFill>
              <a:srgbClr val="D4AF37">
                <a:alpha val="10000"/>
              </a:srgbClr>
            </a:solidFill>
            <a:prstDash val="solid"/>
          </a:ln>
        </p:spPr>
      </p:sp>
      <p:sp>
        <p:nvSpPr>
          <p:cNvPr id="13" name="Shape 11"/>
          <p:cNvSpPr/>
          <p:nvPr/>
        </p:nvSpPr>
        <p:spPr>
          <a:xfrm>
            <a:off x="7680960" y="5120640"/>
            <a:ext cx="457200" cy="457200"/>
          </a:xfrm>
          <a:prstGeom prst="rect">
            <a:avLst/>
          </a:prstGeom>
          <a:solidFill>
            <a:srgbClr val="D4AF37">
              <a:alpha val="4000"/>
            </a:srgbClr>
          </a:solidFill>
          <a:ln w="3175">
            <a:solidFill>
              <a:srgbClr val="D4AF37">
                <a:alpha val="10000"/>
              </a:srgbClr>
            </a:solidFill>
            <a:prstDash val="solid"/>
          </a:ln>
        </p:spPr>
      </p:sp>
      <p:sp>
        <p:nvSpPr>
          <p:cNvPr id="14" name="Shape 12"/>
          <p:cNvSpPr/>
          <p:nvPr/>
        </p:nvSpPr>
        <p:spPr>
          <a:xfrm>
            <a:off x="8138160" y="2834640"/>
            <a:ext cx="457200" cy="457200"/>
          </a:xfrm>
          <a:prstGeom prst="rect">
            <a:avLst/>
          </a:prstGeom>
          <a:solidFill>
            <a:srgbClr val="D4AF37">
              <a:alpha val="4000"/>
            </a:srgbClr>
          </a:solidFill>
          <a:ln w="3175">
            <a:solidFill>
              <a:srgbClr val="D4AF37">
                <a:alpha val="10000"/>
              </a:srgbClr>
            </a:solidFill>
            <a:prstDash val="solid"/>
          </a:ln>
        </p:spPr>
      </p:sp>
      <p:sp>
        <p:nvSpPr>
          <p:cNvPr id="15" name="Shape 13"/>
          <p:cNvSpPr/>
          <p:nvPr/>
        </p:nvSpPr>
        <p:spPr>
          <a:xfrm>
            <a:off x="8138160" y="3749040"/>
            <a:ext cx="457200" cy="457200"/>
          </a:xfrm>
          <a:prstGeom prst="rect">
            <a:avLst/>
          </a:prstGeom>
          <a:solidFill>
            <a:srgbClr val="D4AF37">
              <a:alpha val="4000"/>
            </a:srgbClr>
          </a:solidFill>
          <a:ln w="3175">
            <a:solidFill>
              <a:srgbClr val="D4AF37">
                <a:alpha val="10000"/>
              </a:srgbClr>
            </a:solidFill>
            <a:prstDash val="solid"/>
          </a:ln>
        </p:spPr>
      </p:sp>
      <p:sp>
        <p:nvSpPr>
          <p:cNvPr id="16" name="Shape 14"/>
          <p:cNvSpPr/>
          <p:nvPr/>
        </p:nvSpPr>
        <p:spPr>
          <a:xfrm>
            <a:off x="8138160" y="4663440"/>
            <a:ext cx="457200" cy="457200"/>
          </a:xfrm>
          <a:prstGeom prst="rect">
            <a:avLst/>
          </a:prstGeom>
          <a:solidFill>
            <a:srgbClr val="D4AF37">
              <a:alpha val="4000"/>
            </a:srgbClr>
          </a:solidFill>
          <a:ln w="3175">
            <a:solidFill>
              <a:srgbClr val="D4AF37">
                <a:alpha val="10000"/>
              </a:srgbClr>
            </a:solidFill>
            <a:prstDash val="solid"/>
          </a:ln>
        </p:spPr>
      </p:sp>
      <p:sp>
        <p:nvSpPr>
          <p:cNvPr id="17" name="Shape 15"/>
          <p:cNvSpPr/>
          <p:nvPr/>
        </p:nvSpPr>
        <p:spPr>
          <a:xfrm>
            <a:off x="8595360" y="3291840"/>
            <a:ext cx="457200" cy="457200"/>
          </a:xfrm>
          <a:prstGeom prst="rect">
            <a:avLst/>
          </a:prstGeom>
          <a:solidFill>
            <a:srgbClr val="D4AF37">
              <a:alpha val="4000"/>
            </a:srgbClr>
          </a:solidFill>
          <a:ln w="3175">
            <a:solidFill>
              <a:srgbClr val="D4AF37">
                <a:alpha val="10000"/>
              </a:srgbClr>
            </a:solidFill>
            <a:prstDash val="solid"/>
          </a:ln>
        </p:spPr>
      </p:sp>
      <p:sp>
        <p:nvSpPr>
          <p:cNvPr id="18" name="Shape 16"/>
          <p:cNvSpPr/>
          <p:nvPr/>
        </p:nvSpPr>
        <p:spPr>
          <a:xfrm>
            <a:off x="8595360" y="4206240"/>
            <a:ext cx="457200" cy="457200"/>
          </a:xfrm>
          <a:prstGeom prst="rect">
            <a:avLst/>
          </a:prstGeom>
          <a:solidFill>
            <a:srgbClr val="D4AF37">
              <a:alpha val="4000"/>
            </a:srgbClr>
          </a:solidFill>
          <a:ln w="3175">
            <a:solidFill>
              <a:srgbClr val="D4AF37">
                <a:alpha val="10000"/>
              </a:srgbClr>
            </a:solidFill>
            <a:prstDash val="solid"/>
          </a:ln>
        </p:spPr>
      </p:sp>
      <p:sp>
        <p:nvSpPr>
          <p:cNvPr id="19" name="Shape 17"/>
          <p:cNvSpPr/>
          <p:nvPr/>
        </p:nvSpPr>
        <p:spPr>
          <a:xfrm>
            <a:off x="8595360" y="5120640"/>
            <a:ext cx="457200" cy="457200"/>
          </a:xfrm>
          <a:prstGeom prst="rect">
            <a:avLst/>
          </a:prstGeom>
          <a:solidFill>
            <a:srgbClr val="D4AF37">
              <a:alpha val="4000"/>
            </a:srgbClr>
          </a:solidFill>
          <a:ln w="3175">
            <a:solidFill>
              <a:srgbClr val="D4AF37">
                <a:alpha val="10000"/>
              </a:srgbClr>
            </a:solidFill>
            <a:prstDash val="solid"/>
          </a:ln>
        </p:spPr>
      </p:sp>
      <p:sp>
        <p:nvSpPr>
          <p:cNvPr id="21" name="Text 19"/>
          <p:cNvSpPr txBox="1"/>
          <p:nvPr/>
        </p:nvSpPr>
        <p:spPr>
          <a:xfrm>
            <a:off x="457200" y="411480"/>
            <a:ext cx="7315200" cy="457200"/>
          </a:xfrm>
          <a:prstGeom prst="rect">
            <a:avLst/>
          </a:prstGeom>
          <a:noFill/>
          <a:ln/>
        </p:spPr>
        <p:txBody>
          <a:bodyPr wrap="square" lIns="0" tIns="0" rIns="0" bIns="0" rtlCol="0" anchor="ctr"/>
          <a:lstStyle/>
          <a:p>
            <a:pPr marL="0" indent="0">
              <a:buNone/>
            </a:pPr>
            <a:r>
              <a:rPr lang="en-US" sz="2200" b="1" dirty="0">
                <a:solidFill>
                  <a:srgbClr val="FFFFFF"/>
                </a:solidFill>
                <a:latin typeface="Poppins" pitchFamily="34" charset="0"/>
                <a:ea typeface="Poppins" pitchFamily="34" charset="-122"/>
                <a:cs typeface="Poppins" pitchFamily="34" charset="-120"/>
              </a:rPr>
              <a:t>Two Models. One Player.</a:t>
            </a:r>
            <a:endParaRPr lang="en-US" sz="2200" dirty="0"/>
          </a:p>
        </p:txBody>
      </p:sp>
      <p:sp>
        <p:nvSpPr>
          <p:cNvPr id="22" name="Text 20"/>
          <p:cNvSpPr txBox="1"/>
          <p:nvPr/>
        </p:nvSpPr>
        <p:spPr>
          <a:xfrm>
            <a:off x="457200" y="841248"/>
            <a:ext cx="7315200" cy="228600"/>
          </a:xfrm>
          <a:prstGeom prst="rect">
            <a:avLst/>
          </a:prstGeom>
          <a:noFill/>
          <a:ln/>
        </p:spPr>
        <p:txBody>
          <a:bodyPr wrap="square" lIns="0" tIns="0" rIns="0" bIns="0" rtlCol="0" anchor="ctr"/>
          <a:lstStyle/>
          <a:p>
            <a:pPr marL="0" indent="0">
              <a:buNone/>
            </a:pPr>
            <a:r>
              <a:rPr lang="en-US" sz="1000" dirty="0">
                <a:solidFill>
                  <a:srgbClr val="8A8F98"/>
                </a:solidFill>
                <a:latin typeface="Poppins" pitchFamily="34" charset="0"/>
                <a:ea typeface="Poppins" pitchFamily="34" charset="-122"/>
                <a:cs typeface="Poppins" pitchFamily="34" charset="-120"/>
              </a:rPr>
              <a:t>Learning how you play — then showing how you could evolve.</a:t>
            </a:r>
            <a:endParaRPr lang="en-US" sz="1000" dirty="0"/>
          </a:p>
        </p:txBody>
      </p:sp>
      <p:sp>
        <p:nvSpPr>
          <p:cNvPr id="24" name="Text 22"/>
          <p:cNvSpPr txBox="1"/>
          <p:nvPr/>
        </p:nvSpPr>
        <p:spPr>
          <a:xfrm>
            <a:off x="457200" y="1188720"/>
            <a:ext cx="4023360" cy="182880"/>
          </a:xfrm>
          <a:prstGeom prst="rect">
            <a:avLst/>
          </a:prstGeom>
          <a:noFill/>
          <a:ln/>
        </p:spPr>
        <p:txBody>
          <a:bodyPr wrap="square" lIns="0" tIns="0" rIns="0" bIns="0" rtlCol="0" anchor="ctr"/>
          <a:lstStyle/>
          <a:p>
            <a:pPr marL="0" indent="0">
              <a:buNone/>
            </a:pPr>
            <a:r>
              <a:rPr lang="en-US" sz="800" b="1" kern="0" spc="300" dirty="0">
                <a:solidFill>
                  <a:srgbClr val="D4AF37"/>
                </a:solidFill>
                <a:latin typeface="Poppins" pitchFamily="34" charset="0"/>
                <a:ea typeface="Poppins" pitchFamily="34" charset="-122"/>
                <a:cs typeface="Poppins" pitchFamily="34" charset="-120"/>
              </a:rPr>
              <a:t>DUAL-TOWER NEURAL NETWORK</a:t>
            </a:r>
            <a:endParaRPr lang="en-US" sz="800" dirty="0"/>
          </a:p>
        </p:txBody>
      </p:sp>
      <p:sp>
        <p:nvSpPr>
          <p:cNvPr id="25" name="Position Encoder"/>
          <p:cNvSpPr/>
          <p:nvPr/>
        </p:nvSpPr>
        <p:spPr>
          <a:xfrm>
            <a:off x="457200" y="1417320"/>
            <a:ext cx="1920240" cy="1143000"/>
          </a:xfrm>
          <a:prstGeom prst="roundRect">
            <a:avLst>
              <a:gd name="adj" fmla="val 6400"/>
            </a:avLst>
          </a:prstGeom>
          <a:solidFill>
            <a:srgbClr val="17181D">
              <a:alpha val="95000"/>
            </a:srgbClr>
          </a:solidFill>
          <a:ln w="9525">
            <a:solidFill>
              <a:srgbClr val="D4AF37">
                <a:alpha val="55000"/>
              </a:srgbClr>
            </a:solidFill>
            <a:prstDash val="solid"/>
          </a:ln>
        </p:spPr>
      </p:sp>
      <p:sp>
        <p:nvSpPr>
          <p:cNvPr id="26" name="Text 24"/>
          <p:cNvSpPr txBox="1"/>
          <p:nvPr/>
        </p:nvSpPr>
        <p:spPr>
          <a:xfrm>
            <a:off x="566928" y="1463040"/>
            <a:ext cx="1737360" cy="201168"/>
          </a:xfrm>
          <a:prstGeom prst="rect">
            <a:avLst/>
          </a:prstGeom>
          <a:noFill/>
          <a:ln/>
        </p:spPr>
        <p:txBody>
          <a:bodyPr wrap="square" lIns="0" tIns="0" rIns="0" bIns="0" rtlCol="0" anchor="ctr"/>
          <a:lstStyle/>
          <a:p>
            <a:pPr marL="0" indent="0">
              <a:buNone/>
            </a:pPr>
            <a:r>
              <a:rPr lang="en-US" sz="850" b="1" dirty="0">
                <a:solidFill>
                  <a:srgbClr val="D4AF37"/>
                </a:solidFill>
                <a:latin typeface="Poppins" pitchFamily="34" charset="0"/>
                <a:ea typeface="Poppins" pitchFamily="34" charset="-122"/>
                <a:cs typeface="Poppins" pitchFamily="34" charset="-120"/>
              </a:rPr>
              <a:t>POSITION ENCODER</a:t>
            </a:r>
            <a:endParaRPr lang="en-US" sz="850" dirty="0"/>
          </a:p>
        </p:txBody>
      </p:sp>
      <p:sp>
        <p:nvSpPr>
          <p:cNvPr id="27" name="Text 25"/>
          <p:cNvSpPr txBox="1"/>
          <p:nvPr/>
        </p:nvSpPr>
        <p:spPr>
          <a:xfrm>
            <a:off x="566928" y="1691640"/>
            <a:ext cx="1737360" cy="822960"/>
          </a:xfrm>
          <a:prstGeom prst="rect">
            <a:avLst/>
          </a:prstGeom>
          <a:noFill/>
          <a:ln/>
        </p:spPr>
        <p:txBody>
          <a:bodyPr wrap="square" lIns="0" tIns="0" rIns="0" bIns="0" rtlCol="0" anchor="t"/>
          <a:lstStyle/>
          <a:p>
            <a:pPr marL="0" indent="0">
              <a:buNone/>
            </a:pPr>
            <a:r>
              <a:rPr lang="en-US" sz="700" dirty="0">
                <a:solidFill>
                  <a:srgbClr val="C9CCD1"/>
                </a:solidFill>
                <a:latin typeface="Poppins" pitchFamily="34" charset="0"/>
                <a:ea typeface="Poppins" pitchFamily="34" charset="-122"/>
                <a:cs typeface="Poppins" pitchFamily="34" charset="-120"/>
              </a:rPr>
              <a:t>MLP + LayerNorm + GELU</a:t>
            </a:r>
            <a:endParaRPr lang="en-US" sz="700" dirty="0"/>
          </a:p>
          <a:p>
            <a:pPr marL="0" indent="0">
              <a:buNone/>
            </a:pPr>
            <a:r>
              <a:rPr lang="en-US" sz="700" dirty="0">
                <a:solidFill>
                  <a:srgbClr val="C9CCD1"/>
                </a:solidFill>
                <a:latin typeface="Poppins" pitchFamily="34" charset="0"/>
                <a:ea typeface="Poppins" pitchFamily="34" charset="-122"/>
                <a:cs typeface="Poppins" pitchFamily="34" charset="-120"/>
              </a:rPr>
              <a:t>Material · mobility · king safety · center control · piece count · game phase</a:t>
            </a:r>
            <a:endParaRPr lang="en-US" sz="700" dirty="0"/>
          </a:p>
        </p:txBody>
      </p:sp>
      <p:sp>
        <p:nvSpPr>
          <p:cNvPr id="28" name="Candidate Encoder"/>
          <p:cNvSpPr/>
          <p:nvPr/>
        </p:nvSpPr>
        <p:spPr>
          <a:xfrm>
            <a:off x="2560320" y="1417320"/>
            <a:ext cx="1920240" cy="1143000"/>
          </a:xfrm>
          <a:prstGeom prst="roundRect">
            <a:avLst>
              <a:gd name="adj" fmla="val 6400"/>
            </a:avLst>
          </a:prstGeom>
          <a:solidFill>
            <a:srgbClr val="17181D">
              <a:alpha val="95000"/>
            </a:srgbClr>
          </a:solidFill>
          <a:ln w="9525">
            <a:solidFill>
              <a:srgbClr val="D4AF37">
                <a:alpha val="55000"/>
              </a:srgbClr>
            </a:solidFill>
            <a:prstDash val="solid"/>
          </a:ln>
        </p:spPr>
      </p:sp>
      <p:sp>
        <p:nvSpPr>
          <p:cNvPr id="29" name="Text 27"/>
          <p:cNvSpPr txBox="1"/>
          <p:nvPr/>
        </p:nvSpPr>
        <p:spPr>
          <a:xfrm>
            <a:off x="2670048" y="1463040"/>
            <a:ext cx="1737360" cy="201168"/>
          </a:xfrm>
          <a:prstGeom prst="rect">
            <a:avLst/>
          </a:prstGeom>
          <a:noFill/>
          <a:ln/>
        </p:spPr>
        <p:txBody>
          <a:bodyPr wrap="square" lIns="0" tIns="0" rIns="0" bIns="0" rtlCol="0" anchor="ctr"/>
          <a:lstStyle/>
          <a:p>
            <a:pPr marL="0" indent="0">
              <a:buNone/>
            </a:pPr>
            <a:r>
              <a:rPr lang="en-US" sz="850" b="1" dirty="0">
                <a:solidFill>
                  <a:srgbClr val="D4AF37"/>
                </a:solidFill>
                <a:latin typeface="Poppins" pitchFamily="34" charset="0"/>
                <a:ea typeface="Poppins" pitchFamily="34" charset="-122"/>
                <a:cs typeface="Poppins" pitchFamily="34" charset="-120"/>
              </a:rPr>
              <a:t>CANDIDATE ENCODER</a:t>
            </a:r>
            <a:endParaRPr lang="en-US" sz="850" dirty="0"/>
          </a:p>
        </p:txBody>
      </p:sp>
      <p:sp>
        <p:nvSpPr>
          <p:cNvPr id="30" name="Text 28"/>
          <p:cNvSpPr txBox="1"/>
          <p:nvPr/>
        </p:nvSpPr>
        <p:spPr>
          <a:xfrm>
            <a:off x="2670048" y="1691640"/>
            <a:ext cx="1737360" cy="822960"/>
          </a:xfrm>
          <a:prstGeom prst="rect">
            <a:avLst/>
          </a:prstGeom>
          <a:noFill/>
          <a:ln/>
        </p:spPr>
        <p:txBody>
          <a:bodyPr wrap="square" lIns="0" tIns="0" rIns="0" bIns="0" rtlCol="0" anchor="t"/>
          <a:lstStyle/>
          <a:p>
            <a:pPr marL="0" indent="0">
              <a:buNone/>
            </a:pPr>
            <a:r>
              <a:rPr lang="en-US" sz="700" dirty="0">
                <a:solidFill>
                  <a:srgbClr val="C9CCD1"/>
                </a:solidFill>
                <a:latin typeface="Poppins" pitchFamily="34" charset="0"/>
                <a:ea typeface="Poppins" pitchFamily="34" charset="-122"/>
                <a:cs typeface="Poppins" pitchFamily="34" charset="-120"/>
              </a:rPr>
              <a:t>Stockfish rank · eval · CPL · check · capture · castling · promotion · sacrifice</a:t>
            </a:r>
            <a:endParaRPr lang="en-US" sz="700" dirty="0"/>
          </a:p>
        </p:txBody>
      </p:sp>
      <p:sp>
        <p:nvSpPr>
          <p:cNvPr id="31" name="Text 29"/>
          <p:cNvSpPr txBox="1"/>
          <p:nvPr/>
        </p:nvSpPr>
        <p:spPr>
          <a:xfrm>
            <a:off x="2194560" y="26060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32" name="Text 30"/>
          <p:cNvSpPr txBox="1"/>
          <p:nvPr/>
        </p:nvSpPr>
        <p:spPr>
          <a:xfrm>
            <a:off x="2560320" y="2606040"/>
            <a:ext cx="274320" cy="274320"/>
          </a:xfrm>
          <a:prstGeom prst="rect">
            <a:avLst/>
          </a:prstGeom>
          <a:noFill/>
          <a:ln/>
        </p:spPr>
        <p:txBody>
          <a:bodyPr wrap="square" lIns="0" tIns="0" rIns="0" bIns="0" rtlCol="0" anchor="ctr"/>
          <a:lstStyle/>
          <a:p>
            <a:pPr marL="0" indent="0" algn="ctr">
              <a:buNone/>
            </a:pPr>
            <a:r>
              <a:rPr lang="en-US" sz="1200" dirty="0">
                <a:solidFill>
                  <a:srgbClr val="D4AF37"/>
                </a:solidFill>
                <a:latin typeface="Poppins" pitchFamily="34" charset="0"/>
                <a:ea typeface="Poppins" pitchFamily="34" charset="-122"/>
                <a:cs typeface="Poppins" pitchFamily="34" charset="-120"/>
              </a:rPr>
              <a:t>↓</a:t>
            </a:r>
            <a:endParaRPr lang="en-US" sz="1200" dirty="0"/>
          </a:p>
        </p:txBody>
      </p:sp>
      <p:sp>
        <p:nvSpPr>
          <p:cNvPr id="33" name="Fusion"/>
          <p:cNvSpPr/>
          <p:nvPr/>
        </p:nvSpPr>
        <p:spPr>
          <a:xfrm>
            <a:off x="457200" y="2880360"/>
            <a:ext cx="4023360" cy="502920"/>
          </a:xfrm>
          <a:prstGeom prst="roundRect">
            <a:avLst>
              <a:gd name="adj" fmla="val 14545"/>
            </a:avLst>
          </a:prstGeom>
          <a:solidFill>
            <a:srgbClr val="17181D">
              <a:alpha val="95000"/>
            </a:srgbClr>
          </a:solidFill>
          <a:ln w="9525">
            <a:solidFill>
              <a:srgbClr val="D4AF37">
                <a:alpha val="55000"/>
              </a:srgbClr>
            </a:solidFill>
            <a:prstDash val="solid"/>
          </a:ln>
        </p:spPr>
      </p:sp>
      <p:sp>
        <p:nvSpPr>
          <p:cNvPr id="34" name="Text 32"/>
          <p:cNvSpPr txBox="1"/>
          <p:nvPr/>
        </p:nvSpPr>
        <p:spPr>
          <a:xfrm>
            <a:off x="548640" y="2880360"/>
            <a:ext cx="3840480" cy="502920"/>
          </a:xfrm>
          <a:prstGeom prst="rect">
            <a:avLst/>
          </a:prstGeom>
          <a:noFill/>
          <a:ln/>
        </p:spPr>
        <p:txBody>
          <a:bodyPr wrap="square" lIns="0" tIns="0" rIns="0" bIns="0" rtlCol="0" anchor="ctr"/>
          <a:lstStyle/>
          <a:p>
            <a:pPr marL="0" indent="0" algn="ctr">
              <a:buNone/>
            </a:pPr>
            <a:r>
              <a:rPr lang="en-US" sz="800" b="1" dirty="0">
                <a:solidFill>
                  <a:srgbClr val="D4AF37"/>
                </a:solidFill>
                <a:latin typeface="Poppins" pitchFamily="34" charset="0"/>
                <a:ea typeface="Poppins" pitchFamily="34" charset="-122"/>
                <a:cs typeface="Poppins" pitchFamily="34" charset="-120"/>
              </a:rPr>
              <a:t>FUSION + RANKING  →  scores  →  probability distribution  →  predicted move</a:t>
            </a:r>
            <a:endParaRPr lang="en-US" sz="800" dirty="0"/>
          </a:p>
        </p:txBody>
      </p:sp>
      <p:sp>
        <p:nvSpPr>
          <p:cNvPr id="35" name="Text 33"/>
          <p:cNvSpPr txBox="1"/>
          <p:nvPr/>
        </p:nvSpPr>
        <p:spPr>
          <a:xfrm>
            <a:off x="457200" y="3520440"/>
            <a:ext cx="4023360" cy="182880"/>
          </a:xfrm>
          <a:prstGeom prst="rect">
            <a:avLst/>
          </a:prstGeom>
          <a:noFill/>
          <a:ln/>
        </p:spPr>
        <p:txBody>
          <a:bodyPr wrap="square" lIns="0" tIns="0" rIns="0" bIns="0" rtlCol="0" anchor="ctr"/>
          <a:lstStyle/>
          <a:p>
            <a:pPr marL="0" indent="0">
              <a:buNone/>
            </a:pPr>
            <a:r>
              <a:rPr lang="en-US" sz="800" b="1" kern="0" spc="300" dirty="0">
                <a:solidFill>
                  <a:srgbClr val="10B981"/>
                </a:solidFill>
                <a:latin typeface="Poppins" pitchFamily="34" charset="0"/>
                <a:ea typeface="Poppins" pitchFamily="34" charset="-122"/>
                <a:cs typeface="Poppins" pitchFamily="34" charset="-120"/>
              </a:rPr>
              <a:t>WHY CANDIDATE RANKING?</a:t>
            </a:r>
            <a:endParaRPr lang="en-US" sz="800" dirty="0"/>
          </a:p>
        </p:txBody>
      </p:sp>
      <p:sp>
        <p:nvSpPr>
          <p:cNvPr id="36" name="Why"/>
          <p:cNvSpPr/>
          <p:nvPr/>
        </p:nvSpPr>
        <p:spPr>
          <a:xfrm>
            <a:off x="457200" y="3749040"/>
            <a:ext cx="1280160" cy="640080"/>
          </a:xfrm>
          <a:prstGeom prst="roundRect">
            <a:avLst>
              <a:gd name="adj" fmla="val 11429"/>
            </a:avLst>
          </a:prstGeom>
          <a:solidFill>
            <a:srgbClr val="17181D">
              <a:alpha val="95000"/>
            </a:srgbClr>
          </a:solidFill>
          <a:ln w="9525">
            <a:solidFill>
              <a:srgbClr val="10B981">
                <a:alpha val="55000"/>
              </a:srgbClr>
            </a:solidFill>
            <a:prstDash val="solid"/>
          </a:ln>
        </p:spPr>
      </p:sp>
      <p:sp>
        <p:nvSpPr>
          <p:cNvPr id="37" name="Text 35"/>
          <p:cNvSpPr txBox="1"/>
          <p:nvPr/>
        </p:nvSpPr>
        <p:spPr>
          <a:xfrm>
            <a:off x="530352" y="3776472"/>
            <a:ext cx="1143000" cy="228600"/>
          </a:xfrm>
          <a:prstGeom prst="rect">
            <a:avLst/>
          </a:prstGeom>
          <a:noFill/>
          <a:ln/>
        </p:spPr>
        <p:txBody>
          <a:bodyPr wrap="square" lIns="0" tIns="0" rIns="0" bIns="0" rtlCol="0" anchor="ctr"/>
          <a:lstStyle/>
          <a:p>
            <a:pPr marL="0" indent="0">
              <a:buNone/>
            </a:pPr>
            <a:r>
              <a:rPr lang="en-US" sz="750" b="1" dirty="0">
                <a:solidFill>
                  <a:srgbClr val="10B981"/>
                </a:solidFill>
                <a:latin typeface="Poppins" pitchFamily="34" charset="0"/>
                <a:ea typeface="Poppins" pitchFamily="34" charset="-122"/>
                <a:cs typeface="Poppins" pitchFamily="34" charset="-120"/>
              </a:rPr>
              <a:t>Legal by design</a:t>
            </a:r>
            <a:endParaRPr lang="en-US" sz="750" dirty="0"/>
          </a:p>
        </p:txBody>
      </p:sp>
      <p:sp>
        <p:nvSpPr>
          <p:cNvPr id="38" name="Text 36"/>
          <p:cNvSpPr txBox="1"/>
          <p:nvPr/>
        </p:nvSpPr>
        <p:spPr>
          <a:xfrm>
            <a:off x="530352" y="4005072"/>
            <a:ext cx="1143000" cy="347472"/>
          </a:xfrm>
          <a:prstGeom prst="rect">
            <a:avLst/>
          </a:prstGeom>
          <a:noFill/>
          <a:ln/>
        </p:spPr>
        <p:txBody>
          <a:bodyPr wrap="square" lIns="0" tIns="0" rIns="0" bIns="0" rtlCol="0" anchor="t"/>
          <a:lstStyle/>
          <a:p>
            <a:pPr marL="0" indent="0">
              <a:buNone/>
            </a:pPr>
            <a:r>
              <a:rPr lang="en-US" sz="700" dirty="0">
                <a:solidFill>
                  <a:srgbClr val="C9CCD1"/>
                </a:solidFill>
                <a:latin typeface="Poppins" pitchFamily="34" charset="0"/>
                <a:ea typeface="Poppins" pitchFamily="34" charset="-122"/>
                <a:cs typeface="Poppins" pitchFamily="34" charset="-120"/>
              </a:rPr>
              <a:t>Ranks legal candidates only</a:t>
            </a:r>
            <a:endParaRPr lang="en-US" sz="700" dirty="0"/>
          </a:p>
        </p:txBody>
      </p:sp>
      <p:sp>
        <p:nvSpPr>
          <p:cNvPr id="39" name="Why"/>
          <p:cNvSpPr/>
          <p:nvPr/>
        </p:nvSpPr>
        <p:spPr>
          <a:xfrm>
            <a:off x="1828800" y="3749040"/>
            <a:ext cx="1280160" cy="640080"/>
          </a:xfrm>
          <a:prstGeom prst="roundRect">
            <a:avLst>
              <a:gd name="adj" fmla="val 11429"/>
            </a:avLst>
          </a:prstGeom>
          <a:solidFill>
            <a:srgbClr val="17181D">
              <a:alpha val="95000"/>
            </a:srgbClr>
          </a:solidFill>
          <a:ln w="9525">
            <a:solidFill>
              <a:srgbClr val="10B981">
                <a:alpha val="55000"/>
              </a:srgbClr>
            </a:solidFill>
            <a:prstDash val="solid"/>
          </a:ln>
        </p:spPr>
      </p:sp>
      <p:sp>
        <p:nvSpPr>
          <p:cNvPr id="40" name="Text 38"/>
          <p:cNvSpPr txBox="1"/>
          <p:nvPr/>
        </p:nvSpPr>
        <p:spPr>
          <a:xfrm>
            <a:off x="1901952" y="3776472"/>
            <a:ext cx="1143000" cy="228600"/>
          </a:xfrm>
          <a:prstGeom prst="rect">
            <a:avLst/>
          </a:prstGeom>
          <a:noFill/>
          <a:ln/>
        </p:spPr>
        <p:txBody>
          <a:bodyPr wrap="square" lIns="0" tIns="0" rIns="0" bIns="0" rtlCol="0" anchor="ctr"/>
          <a:lstStyle/>
          <a:p>
            <a:pPr marL="0" indent="0">
              <a:buNone/>
            </a:pPr>
            <a:r>
              <a:rPr lang="en-US" sz="750" b="1" dirty="0">
                <a:solidFill>
                  <a:srgbClr val="10B981"/>
                </a:solidFill>
                <a:latin typeface="Poppins" pitchFamily="34" charset="0"/>
                <a:ea typeface="Poppins" pitchFamily="34" charset="-122"/>
                <a:cs typeface="Poppins" pitchFamily="34" charset="-120"/>
              </a:rPr>
              <a:t>Fast inference</a:t>
            </a:r>
            <a:endParaRPr lang="en-US" sz="750" dirty="0"/>
          </a:p>
        </p:txBody>
      </p:sp>
      <p:sp>
        <p:nvSpPr>
          <p:cNvPr id="41" name="Text 39"/>
          <p:cNvSpPr txBox="1"/>
          <p:nvPr/>
        </p:nvSpPr>
        <p:spPr>
          <a:xfrm>
            <a:off x="1901952" y="4005072"/>
            <a:ext cx="1143000" cy="347472"/>
          </a:xfrm>
          <a:prstGeom prst="rect">
            <a:avLst/>
          </a:prstGeom>
          <a:noFill/>
          <a:ln/>
        </p:spPr>
        <p:txBody>
          <a:bodyPr wrap="square" lIns="0" tIns="0" rIns="0" bIns="0" rtlCol="0" anchor="t"/>
          <a:lstStyle/>
          <a:p>
            <a:pPr marL="0" indent="0">
              <a:buNone/>
            </a:pPr>
            <a:r>
              <a:rPr lang="en-US" sz="700" dirty="0">
                <a:solidFill>
                  <a:srgbClr val="C9CCD1"/>
                </a:solidFill>
                <a:latin typeface="Poppins" pitchFamily="34" charset="0"/>
                <a:ea typeface="Poppins" pitchFamily="34" charset="-122"/>
                <a:cs typeface="Poppins" pitchFamily="34" charset="-120"/>
              </a:rPr>
              <a:t>No unrestricted tree search</a:t>
            </a:r>
            <a:endParaRPr lang="en-US" sz="700" dirty="0"/>
          </a:p>
        </p:txBody>
      </p:sp>
      <p:sp>
        <p:nvSpPr>
          <p:cNvPr id="42" name="Why"/>
          <p:cNvSpPr/>
          <p:nvPr/>
        </p:nvSpPr>
        <p:spPr>
          <a:xfrm>
            <a:off x="3200400" y="3749040"/>
            <a:ext cx="1280160" cy="640080"/>
          </a:xfrm>
          <a:prstGeom prst="roundRect">
            <a:avLst>
              <a:gd name="adj" fmla="val 11429"/>
            </a:avLst>
          </a:prstGeom>
          <a:solidFill>
            <a:srgbClr val="17181D">
              <a:alpha val="95000"/>
            </a:srgbClr>
          </a:solidFill>
          <a:ln w="9525">
            <a:solidFill>
              <a:srgbClr val="10B981">
                <a:alpha val="55000"/>
              </a:srgbClr>
            </a:solidFill>
            <a:prstDash val="solid"/>
          </a:ln>
        </p:spPr>
      </p:sp>
      <p:sp>
        <p:nvSpPr>
          <p:cNvPr id="43" name="Text 41"/>
          <p:cNvSpPr txBox="1"/>
          <p:nvPr/>
        </p:nvSpPr>
        <p:spPr>
          <a:xfrm>
            <a:off x="3273552" y="3776472"/>
            <a:ext cx="1143000" cy="228600"/>
          </a:xfrm>
          <a:prstGeom prst="rect">
            <a:avLst/>
          </a:prstGeom>
          <a:noFill/>
          <a:ln/>
        </p:spPr>
        <p:txBody>
          <a:bodyPr wrap="square" lIns="0" tIns="0" rIns="0" bIns="0" rtlCol="0" anchor="ctr"/>
          <a:lstStyle/>
          <a:p>
            <a:pPr marL="0" indent="0">
              <a:buNone/>
            </a:pPr>
            <a:r>
              <a:rPr lang="en-US" sz="750" b="1" dirty="0">
                <a:solidFill>
                  <a:srgbClr val="10B981"/>
                </a:solidFill>
                <a:latin typeface="Poppins" pitchFamily="34" charset="0"/>
                <a:ea typeface="Poppins" pitchFamily="34" charset="-122"/>
                <a:cs typeface="Poppins" pitchFamily="34" charset="-120"/>
              </a:rPr>
              <a:t>Style vs calculation</a:t>
            </a:r>
            <a:endParaRPr lang="en-US" sz="750" dirty="0"/>
          </a:p>
        </p:txBody>
      </p:sp>
      <p:sp>
        <p:nvSpPr>
          <p:cNvPr id="44" name="Text 42"/>
          <p:cNvSpPr txBox="1"/>
          <p:nvPr/>
        </p:nvSpPr>
        <p:spPr>
          <a:xfrm>
            <a:off x="3273552" y="4005072"/>
            <a:ext cx="1143000" cy="347472"/>
          </a:xfrm>
          <a:prstGeom prst="rect">
            <a:avLst/>
          </a:prstGeom>
          <a:noFill/>
          <a:ln/>
        </p:spPr>
        <p:txBody>
          <a:bodyPr wrap="square" lIns="0" tIns="0" rIns="0" bIns="0" rtlCol="0" anchor="t"/>
          <a:lstStyle/>
          <a:p>
            <a:pPr marL="0" indent="0">
              <a:buNone/>
            </a:pPr>
            <a:r>
              <a:rPr lang="en-US" sz="700" dirty="0">
                <a:solidFill>
                  <a:srgbClr val="C9CCD1"/>
                </a:solidFill>
                <a:latin typeface="Poppins" pitchFamily="34" charset="0"/>
                <a:ea typeface="Poppins" pitchFamily="34" charset="-122"/>
                <a:cs typeface="Poppins" pitchFamily="34" charset="-120"/>
              </a:rPr>
              <a:t>Strength ≠ identity</a:t>
            </a:r>
            <a:endParaRPr lang="en-US" sz="700" dirty="0"/>
          </a:p>
        </p:txBody>
      </p:sp>
      <p:sp>
        <p:nvSpPr>
          <p:cNvPr id="45" name="Current Self"/>
          <p:cNvSpPr/>
          <p:nvPr/>
        </p:nvSpPr>
        <p:spPr>
          <a:xfrm>
            <a:off x="4846320" y="1188720"/>
            <a:ext cx="3840480" cy="1005840"/>
          </a:xfrm>
          <a:prstGeom prst="roundRect">
            <a:avLst>
              <a:gd name="adj" fmla="val 7273"/>
            </a:avLst>
          </a:prstGeom>
          <a:solidFill>
            <a:srgbClr val="17181D">
              <a:alpha val="95000"/>
            </a:srgbClr>
          </a:solidFill>
          <a:ln w="9525">
            <a:solidFill>
              <a:srgbClr val="D4AF37">
                <a:alpha val="55000"/>
              </a:srgbClr>
            </a:solidFill>
            <a:prstDash val="solid"/>
          </a:ln>
        </p:spPr>
      </p:sp>
      <p:sp>
        <p:nvSpPr>
          <p:cNvPr id="46" name="Text 44"/>
          <p:cNvSpPr txBox="1"/>
          <p:nvPr/>
        </p:nvSpPr>
        <p:spPr>
          <a:xfrm>
            <a:off x="4983480" y="1234440"/>
            <a:ext cx="3566160" cy="228600"/>
          </a:xfrm>
          <a:prstGeom prst="rect">
            <a:avLst/>
          </a:prstGeom>
          <a:noFill/>
          <a:ln/>
        </p:spPr>
        <p:txBody>
          <a:bodyPr wrap="square" lIns="0" tIns="0" rIns="0" bIns="0" rtlCol="0" anchor="ctr"/>
          <a:lstStyle/>
          <a:p>
            <a:pPr marL="0" indent="0">
              <a:buNone/>
            </a:pPr>
            <a:r>
              <a:rPr lang="en-US" sz="1000" b="1" dirty="0">
                <a:solidFill>
                  <a:srgbClr val="D4AF37"/>
                </a:solidFill>
                <a:latin typeface="Poppins" pitchFamily="34" charset="0"/>
                <a:ea typeface="Poppins" pitchFamily="34" charset="-122"/>
                <a:cs typeface="Poppins" pitchFamily="34" charset="-120"/>
              </a:rPr>
              <a:t>CURRENT SELF</a:t>
            </a:r>
            <a:endParaRPr lang="en-US" sz="1000" dirty="0"/>
          </a:p>
        </p:txBody>
      </p:sp>
      <p:sp>
        <p:nvSpPr>
          <p:cNvPr id="47" name="Text 45"/>
          <p:cNvSpPr txBox="1"/>
          <p:nvPr/>
        </p:nvSpPr>
        <p:spPr>
          <a:xfrm>
            <a:off x="4983480" y="1481328"/>
            <a:ext cx="3566160" cy="685800"/>
          </a:xfrm>
          <a:prstGeom prst="rect">
            <a:avLst/>
          </a:prstGeom>
          <a:noFill/>
          <a:ln/>
        </p:spPr>
        <p:txBody>
          <a:bodyPr wrap="square" lIns="0" tIns="0" rIns="0" bIns="0" rtlCol="0" anchor="t"/>
          <a:lstStyle/>
          <a:p>
            <a:pPr marL="0" indent="0">
              <a:buNone/>
            </a:pPr>
            <a:r>
              <a:rPr lang="en-US" sz="750" dirty="0">
                <a:solidFill>
                  <a:srgbClr val="C9CCD1"/>
                </a:solidFill>
                <a:latin typeface="Poppins" pitchFamily="34" charset="0"/>
                <a:ea typeface="Poppins" pitchFamily="34" charset="-122"/>
                <a:cs typeface="Poppins" pitchFamily="34" charset="-120"/>
              </a:rPr>
              <a:t>“How would this player normally play?”</a:t>
            </a:r>
            <a:endParaRPr lang="en-US" sz="750" dirty="0"/>
          </a:p>
          <a:p>
            <a:pPr marL="0" indent="0">
              <a:buNone/>
            </a:pPr>
            <a:r>
              <a:rPr lang="en-US" sz="750" dirty="0">
                <a:solidFill>
                  <a:srgbClr val="C9CCD1"/>
                </a:solidFill>
                <a:latin typeface="Poppins" pitchFamily="34" charset="0"/>
                <a:ea typeface="Poppins" pitchFamily="34" charset="-122"/>
                <a:cs typeface="Poppins" pitchFamily="34" charset="-120"/>
              </a:rPr>
              <a:t>Trained on historical decisions + candidate ranking. Learns habits, openings, risk, tactical and positional tendencies, recurring mistakes.</a:t>
            </a:r>
            <a:endParaRPr lang="en-US" sz="750" dirty="0"/>
          </a:p>
        </p:txBody>
      </p:sp>
      <p:sp>
        <p:nvSpPr>
          <p:cNvPr id="48" name="Peak Self"/>
          <p:cNvSpPr/>
          <p:nvPr/>
        </p:nvSpPr>
        <p:spPr>
          <a:xfrm>
            <a:off x="4846320" y="2331720"/>
            <a:ext cx="3840480" cy="1005840"/>
          </a:xfrm>
          <a:prstGeom prst="roundRect">
            <a:avLst>
              <a:gd name="adj" fmla="val 7273"/>
            </a:avLst>
          </a:prstGeom>
          <a:solidFill>
            <a:srgbClr val="17181D">
              <a:alpha val="95000"/>
            </a:srgbClr>
          </a:solidFill>
          <a:ln w="9525">
            <a:solidFill>
              <a:srgbClr val="10B981">
                <a:alpha val="55000"/>
              </a:srgbClr>
            </a:solidFill>
            <a:prstDash val="solid"/>
          </a:ln>
        </p:spPr>
      </p:sp>
      <p:sp>
        <p:nvSpPr>
          <p:cNvPr id="49" name="Text 47"/>
          <p:cNvSpPr txBox="1"/>
          <p:nvPr/>
        </p:nvSpPr>
        <p:spPr>
          <a:xfrm>
            <a:off x="4983480" y="2377440"/>
            <a:ext cx="3566160" cy="228600"/>
          </a:xfrm>
          <a:prstGeom prst="rect">
            <a:avLst/>
          </a:prstGeom>
          <a:noFill/>
          <a:ln/>
        </p:spPr>
        <p:txBody>
          <a:bodyPr wrap="square" lIns="0" tIns="0" rIns="0" bIns="0" rtlCol="0" anchor="ctr"/>
          <a:lstStyle/>
          <a:p>
            <a:pPr marL="0" indent="0">
              <a:buNone/>
            </a:pPr>
            <a:r>
              <a:rPr lang="en-US" sz="1000" b="1" dirty="0">
                <a:solidFill>
                  <a:srgbClr val="10B981"/>
                </a:solidFill>
                <a:latin typeface="Poppins" pitchFamily="34" charset="0"/>
                <a:ea typeface="Poppins" pitchFamily="34" charset="-122"/>
                <a:cs typeface="Poppins" pitchFamily="34" charset="-120"/>
              </a:rPr>
              <a:t>PEAK SELF</a:t>
            </a:r>
            <a:endParaRPr lang="en-US" sz="1000" dirty="0"/>
          </a:p>
        </p:txBody>
      </p:sp>
      <p:sp>
        <p:nvSpPr>
          <p:cNvPr id="50" name="Text 48"/>
          <p:cNvSpPr txBox="1"/>
          <p:nvPr/>
        </p:nvSpPr>
        <p:spPr>
          <a:xfrm>
            <a:off x="4983480" y="2624328"/>
            <a:ext cx="3566160" cy="685800"/>
          </a:xfrm>
          <a:prstGeom prst="rect">
            <a:avLst/>
          </a:prstGeom>
          <a:noFill/>
          <a:ln/>
        </p:spPr>
        <p:txBody>
          <a:bodyPr wrap="square" lIns="0" tIns="0" rIns="0" bIns="0" rtlCol="0" anchor="t"/>
          <a:lstStyle/>
          <a:p>
            <a:pPr marL="0" indent="0">
              <a:buNone/>
            </a:pPr>
            <a:r>
              <a:rPr lang="en-US" sz="750" dirty="0">
                <a:solidFill>
                  <a:srgbClr val="C9CCD1"/>
                </a:solidFill>
                <a:latin typeface="Poppins" pitchFamily="34" charset="0"/>
                <a:ea typeface="Poppins" pitchFamily="34" charset="-122"/>
                <a:cs typeface="Poppins" pitchFamily="34" charset="-120"/>
              </a:rPr>
              <a:t>“How would a stronger version of this player play?”</a:t>
            </a:r>
            <a:endParaRPr lang="en-US" sz="750" dirty="0"/>
          </a:p>
          <a:p>
            <a:pPr marL="0" indent="0">
              <a:buNone/>
            </a:pPr>
            <a:r>
              <a:rPr lang="en-US" sz="750" dirty="0">
                <a:solidFill>
                  <a:srgbClr val="C9CCD1"/>
                </a:solidFill>
                <a:latin typeface="Poppins" pitchFamily="34" charset="0"/>
                <a:ea typeface="Poppins" pitchFamily="34" charset="-122"/>
                <a:cs typeface="Poppins" pitchFamily="34" charset="-120"/>
              </a:rPr>
              <a:t>Uses Current Self behavior, historical weaknesses, engine quality and style compatibility to improve decisions while preserving identity.</a:t>
            </a:r>
            <a:endParaRPr lang="en-US" sz="750" dirty="0"/>
          </a:p>
        </p:txBody>
      </p:sp>
      <p:sp>
        <p:nvSpPr>
          <p:cNvPr id="51" name="Stockfish"/>
          <p:cNvSpPr/>
          <p:nvPr/>
        </p:nvSpPr>
        <p:spPr>
          <a:xfrm>
            <a:off x="4846320" y="3474720"/>
            <a:ext cx="3840480" cy="914400"/>
          </a:xfrm>
          <a:prstGeom prst="roundRect">
            <a:avLst>
              <a:gd name="adj" fmla="val 8000"/>
            </a:avLst>
          </a:prstGeom>
          <a:solidFill>
            <a:srgbClr val="17181D">
              <a:alpha val="95000"/>
            </a:srgbClr>
          </a:solidFill>
          <a:ln w="9525">
            <a:solidFill>
              <a:srgbClr val="C9CCD1">
                <a:alpha val="55000"/>
              </a:srgbClr>
            </a:solidFill>
            <a:prstDash val="solid"/>
          </a:ln>
        </p:spPr>
      </p:sp>
      <p:sp>
        <p:nvSpPr>
          <p:cNvPr id="52" name="Text 50"/>
          <p:cNvSpPr txBox="1"/>
          <p:nvPr/>
        </p:nvSpPr>
        <p:spPr>
          <a:xfrm>
            <a:off x="4983480" y="3520440"/>
            <a:ext cx="3566160" cy="228600"/>
          </a:xfrm>
          <a:prstGeom prst="rect">
            <a:avLst/>
          </a:prstGeom>
          <a:noFill/>
          <a:ln/>
        </p:spPr>
        <p:txBody>
          <a:bodyPr wrap="square" lIns="0" tIns="0" rIns="0" bIns="0" rtlCol="0" anchor="ctr"/>
          <a:lstStyle/>
          <a:p>
            <a:pPr marL="0" indent="0">
              <a:buNone/>
            </a:pPr>
            <a:r>
              <a:rPr lang="en-US" sz="900" b="1" dirty="0">
                <a:solidFill>
                  <a:srgbClr val="FFFFFF"/>
                </a:solidFill>
                <a:latin typeface="Poppins" pitchFamily="34" charset="0"/>
                <a:ea typeface="Poppins" pitchFamily="34" charset="-122"/>
                <a:cs typeface="Poppins" pitchFamily="34" charset="-120"/>
              </a:rPr>
              <a:t>STOCKFISH ≠ THE PERSONALIZED MODEL</a:t>
            </a:r>
            <a:endParaRPr lang="en-US" sz="900" dirty="0"/>
          </a:p>
        </p:txBody>
      </p:sp>
      <p:sp>
        <p:nvSpPr>
          <p:cNvPr id="53" name="Text 51"/>
          <p:cNvSpPr txBox="1"/>
          <p:nvPr/>
        </p:nvSpPr>
        <p:spPr>
          <a:xfrm>
            <a:off x="4983480" y="3767328"/>
            <a:ext cx="3566160" cy="548640"/>
          </a:xfrm>
          <a:prstGeom prst="rect">
            <a:avLst/>
          </a:prstGeom>
          <a:noFill/>
          <a:ln/>
        </p:spPr>
        <p:txBody>
          <a:bodyPr wrap="square" lIns="0" tIns="0" rIns="0" bIns="0" rtlCol="0" anchor="t"/>
          <a:lstStyle/>
          <a:p>
            <a:pPr marL="0" indent="0">
              <a:buNone/>
            </a:pPr>
            <a:r>
              <a:rPr lang="en-US" sz="750" dirty="0">
                <a:solidFill>
                  <a:srgbClr val="C9CCD1"/>
                </a:solidFill>
                <a:latin typeface="Poppins" pitchFamily="34" charset="0"/>
                <a:ea typeface="Poppins" pitchFamily="34" charset="-122"/>
                <a:cs typeface="Poppins" pitchFamily="34" charset="-120"/>
              </a:rPr>
              <a:t>Used for candidate generation, evaluation, CPL, move-quality classification, training signals and baseline.</a:t>
            </a:r>
            <a:endParaRPr lang="en-US" sz="750" dirty="0"/>
          </a:p>
        </p:txBody>
      </p:sp>
      <p:sp>
        <p:nvSpPr>
          <p:cNvPr id="54" name="Text 52"/>
          <p:cNvSpPr txBox="1"/>
          <p:nvPr/>
        </p:nvSpPr>
        <p:spPr>
          <a:xfrm>
            <a:off x="457200" y="4572000"/>
            <a:ext cx="8229600" cy="320040"/>
          </a:xfrm>
          <a:prstGeom prst="rect">
            <a:avLst/>
          </a:prstGeom>
          <a:noFill/>
          <a:ln/>
        </p:spPr>
        <p:txBody>
          <a:bodyPr wrap="square" lIns="0" tIns="0" rIns="0" bIns="0" rtlCol="0" anchor="ctr"/>
          <a:lstStyle/>
          <a:p>
            <a:pPr marL="0" indent="0" algn="ctr">
              <a:buNone/>
            </a:pPr>
            <a:r>
              <a:rPr lang="en-US" sz="1100" i="1" dirty="0">
                <a:solidFill>
                  <a:srgbClr val="D4AF37"/>
                </a:solidFill>
                <a:latin typeface="Poppins" pitchFamily="34" charset="0"/>
                <a:ea typeface="Poppins" pitchFamily="34" charset="-122"/>
                <a:cs typeface="Poppins" pitchFamily="34" charset="-120"/>
              </a:rPr>
              <a:t>Stockfish provides chess strength. The personalized models provide player identity.</a:t>
            </a:r>
            <a:endParaRPr lang="en-US" sz="1100" dirty="0"/>
          </a:p>
        </p:txBody>
      </p:sp>
      <p:sp>
        <p:nvSpPr>
          <p:cNvPr id="56" name="Shape 20">
            <a:extLst>
              <a:ext uri="{FF2B5EF4-FFF2-40B4-BE49-F238E27FC236}">
                <a16:creationId xmlns:a16="http://schemas.microsoft.com/office/drawing/2014/main" id="{BE28F1C6-4BFF-9825-2161-77AFD3F5A59B}"/>
              </a:ext>
            </a:extLst>
          </p:cNvPr>
          <p:cNvSpPr/>
          <p:nvPr/>
        </p:nvSpPr>
        <p:spPr>
          <a:xfrm>
            <a:off x="457200" y="384048"/>
            <a:ext cx="457200" cy="0"/>
          </a:xfrm>
          <a:prstGeom prst="line">
            <a:avLst/>
          </a:prstGeom>
          <a:noFill/>
          <a:ln w="19050">
            <a:solidFill>
              <a:srgbClr val="D4AF37"/>
            </a:solidFill>
            <a:prstDash val="solid"/>
          </a:ln>
        </p:spPr>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D"/>
        </a:solidFill>
        <a:effectLst/>
      </p:bgPr>
    </p:bg>
    <p:spTree>
      <p:nvGrpSpPr>
        <p:cNvPr id="1" name=""/>
        <p:cNvGrpSpPr/>
        <p:nvPr/>
      </p:nvGrpSpPr>
      <p:grpSpPr>
        <a:xfrm>
          <a:off x="0" y="0"/>
          <a:ext cx="0" cy="0"/>
          <a:chOff x="0" y="0"/>
          <a:chExt cx="0" cy="0"/>
        </a:xfrm>
      </p:grpSpPr>
      <p:sp>
        <p:nvSpPr>
          <p:cNvPr id="2" name="Shape 0"/>
          <p:cNvSpPr/>
          <p:nvPr/>
        </p:nvSpPr>
        <p:spPr>
          <a:xfrm>
            <a:off x="6309360" y="2834640"/>
            <a:ext cx="457200" cy="457200"/>
          </a:xfrm>
          <a:prstGeom prst="rect">
            <a:avLst/>
          </a:prstGeom>
          <a:solidFill>
            <a:srgbClr val="D4AF37">
              <a:alpha val="4000"/>
            </a:srgbClr>
          </a:solidFill>
          <a:ln w="3175">
            <a:solidFill>
              <a:srgbClr val="D4AF37">
                <a:alpha val="10000"/>
              </a:srgbClr>
            </a:solidFill>
            <a:prstDash val="solid"/>
          </a:ln>
        </p:spPr>
      </p:sp>
      <p:sp>
        <p:nvSpPr>
          <p:cNvPr id="3" name="Shape 1"/>
          <p:cNvSpPr/>
          <p:nvPr/>
        </p:nvSpPr>
        <p:spPr>
          <a:xfrm>
            <a:off x="6309360" y="3749040"/>
            <a:ext cx="457200" cy="457200"/>
          </a:xfrm>
          <a:prstGeom prst="rect">
            <a:avLst/>
          </a:prstGeom>
          <a:solidFill>
            <a:srgbClr val="D4AF37">
              <a:alpha val="4000"/>
            </a:srgbClr>
          </a:solidFill>
          <a:ln w="3175">
            <a:solidFill>
              <a:srgbClr val="D4AF37">
                <a:alpha val="10000"/>
              </a:srgbClr>
            </a:solidFill>
            <a:prstDash val="solid"/>
          </a:ln>
        </p:spPr>
      </p:sp>
      <p:sp>
        <p:nvSpPr>
          <p:cNvPr id="4" name="Shape 2"/>
          <p:cNvSpPr/>
          <p:nvPr/>
        </p:nvSpPr>
        <p:spPr>
          <a:xfrm>
            <a:off x="6309360" y="4663440"/>
            <a:ext cx="457200" cy="457200"/>
          </a:xfrm>
          <a:prstGeom prst="rect">
            <a:avLst/>
          </a:prstGeom>
          <a:solidFill>
            <a:srgbClr val="D4AF37">
              <a:alpha val="4000"/>
            </a:srgbClr>
          </a:solidFill>
          <a:ln w="3175">
            <a:solidFill>
              <a:srgbClr val="D4AF37">
                <a:alpha val="10000"/>
              </a:srgbClr>
            </a:solidFill>
            <a:prstDash val="solid"/>
          </a:ln>
        </p:spPr>
      </p:sp>
      <p:sp>
        <p:nvSpPr>
          <p:cNvPr id="5" name="Shape 3"/>
          <p:cNvSpPr/>
          <p:nvPr/>
        </p:nvSpPr>
        <p:spPr>
          <a:xfrm>
            <a:off x="6766560" y="3291840"/>
            <a:ext cx="457200" cy="457200"/>
          </a:xfrm>
          <a:prstGeom prst="rect">
            <a:avLst/>
          </a:prstGeom>
          <a:solidFill>
            <a:srgbClr val="D4AF37">
              <a:alpha val="4000"/>
            </a:srgbClr>
          </a:solidFill>
          <a:ln w="3175">
            <a:solidFill>
              <a:srgbClr val="D4AF37">
                <a:alpha val="10000"/>
              </a:srgbClr>
            </a:solidFill>
            <a:prstDash val="solid"/>
          </a:ln>
        </p:spPr>
      </p:sp>
      <p:sp>
        <p:nvSpPr>
          <p:cNvPr id="6" name="Shape 4"/>
          <p:cNvSpPr/>
          <p:nvPr/>
        </p:nvSpPr>
        <p:spPr>
          <a:xfrm>
            <a:off x="6766560" y="4206240"/>
            <a:ext cx="457200" cy="457200"/>
          </a:xfrm>
          <a:prstGeom prst="rect">
            <a:avLst/>
          </a:prstGeom>
          <a:solidFill>
            <a:srgbClr val="D4AF37">
              <a:alpha val="4000"/>
            </a:srgbClr>
          </a:solidFill>
          <a:ln w="3175">
            <a:solidFill>
              <a:srgbClr val="D4AF37">
                <a:alpha val="10000"/>
              </a:srgbClr>
            </a:solidFill>
            <a:prstDash val="solid"/>
          </a:ln>
        </p:spPr>
      </p:sp>
      <p:sp>
        <p:nvSpPr>
          <p:cNvPr id="7" name="Shape 5"/>
          <p:cNvSpPr/>
          <p:nvPr/>
        </p:nvSpPr>
        <p:spPr>
          <a:xfrm>
            <a:off x="6766560" y="5120640"/>
            <a:ext cx="457200" cy="457200"/>
          </a:xfrm>
          <a:prstGeom prst="rect">
            <a:avLst/>
          </a:prstGeom>
          <a:solidFill>
            <a:srgbClr val="D4AF37">
              <a:alpha val="4000"/>
            </a:srgbClr>
          </a:solidFill>
          <a:ln w="3175">
            <a:solidFill>
              <a:srgbClr val="D4AF37">
                <a:alpha val="10000"/>
              </a:srgbClr>
            </a:solidFill>
            <a:prstDash val="solid"/>
          </a:ln>
        </p:spPr>
      </p:sp>
      <p:sp>
        <p:nvSpPr>
          <p:cNvPr id="8" name="Shape 6"/>
          <p:cNvSpPr/>
          <p:nvPr/>
        </p:nvSpPr>
        <p:spPr>
          <a:xfrm>
            <a:off x="7223760" y="2834640"/>
            <a:ext cx="457200" cy="457200"/>
          </a:xfrm>
          <a:prstGeom prst="rect">
            <a:avLst/>
          </a:prstGeom>
          <a:solidFill>
            <a:srgbClr val="D4AF37">
              <a:alpha val="4000"/>
            </a:srgbClr>
          </a:solidFill>
          <a:ln w="3175">
            <a:solidFill>
              <a:srgbClr val="D4AF37">
                <a:alpha val="10000"/>
              </a:srgbClr>
            </a:solidFill>
            <a:prstDash val="solid"/>
          </a:ln>
        </p:spPr>
      </p:sp>
      <p:sp>
        <p:nvSpPr>
          <p:cNvPr id="9" name="Shape 7"/>
          <p:cNvSpPr/>
          <p:nvPr/>
        </p:nvSpPr>
        <p:spPr>
          <a:xfrm>
            <a:off x="7223760" y="3749040"/>
            <a:ext cx="457200" cy="457200"/>
          </a:xfrm>
          <a:prstGeom prst="rect">
            <a:avLst/>
          </a:prstGeom>
          <a:solidFill>
            <a:srgbClr val="D4AF37">
              <a:alpha val="4000"/>
            </a:srgbClr>
          </a:solidFill>
          <a:ln w="3175">
            <a:solidFill>
              <a:srgbClr val="D4AF37">
                <a:alpha val="10000"/>
              </a:srgbClr>
            </a:solidFill>
            <a:prstDash val="solid"/>
          </a:ln>
        </p:spPr>
      </p:sp>
      <p:sp>
        <p:nvSpPr>
          <p:cNvPr id="10" name="Shape 8"/>
          <p:cNvSpPr/>
          <p:nvPr/>
        </p:nvSpPr>
        <p:spPr>
          <a:xfrm>
            <a:off x="7223760" y="4663440"/>
            <a:ext cx="457200" cy="457200"/>
          </a:xfrm>
          <a:prstGeom prst="rect">
            <a:avLst/>
          </a:prstGeom>
          <a:solidFill>
            <a:srgbClr val="D4AF37">
              <a:alpha val="4000"/>
            </a:srgbClr>
          </a:solidFill>
          <a:ln w="3175">
            <a:solidFill>
              <a:srgbClr val="D4AF37">
                <a:alpha val="10000"/>
              </a:srgbClr>
            </a:solidFill>
            <a:prstDash val="solid"/>
          </a:ln>
        </p:spPr>
      </p:sp>
      <p:sp>
        <p:nvSpPr>
          <p:cNvPr id="11" name="Shape 9"/>
          <p:cNvSpPr/>
          <p:nvPr/>
        </p:nvSpPr>
        <p:spPr>
          <a:xfrm>
            <a:off x="7680960" y="3291840"/>
            <a:ext cx="457200" cy="457200"/>
          </a:xfrm>
          <a:prstGeom prst="rect">
            <a:avLst/>
          </a:prstGeom>
          <a:solidFill>
            <a:srgbClr val="D4AF37">
              <a:alpha val="4000"/>
            </a:srgbClr>
          </a:solidFill>
          <a:ln w="3175">
            <a:solidFill>
              <a:srgbClr val="D4AF37">
                <a:alpha val="10000"/>
              </a:srgbClr>
            </a:solidFill>
            <a:prstDash val="solid"/>
          </a:ln>
        </p:spPr>
      </p:sp>
      <p:sp>
        <p:nvSpPr>
          <p:cNvPr id="12" name="Shape 10"/>
          <p:cNvSpPr/>
          <p:nvPr/>
        </p:nvSpPr>
        <p:spPr>
          <a:xfrm>
            <a:off x="7680960" y="4206240"/>
            <a:ext cx="457200" cy="457200"/>
          </a:xfrm>
          <a:prstGeom prst="rect">
            <a:avLst/>
          </a:prstGeom>
          <a:solidFill>
            <a:srgbClr val="D4AF37">
              <a:alpha val="4000"/>
            </a:srgbClr>
          </a:solidFill>
          <a:ln w="3175">
            <a:solidFill>
              <a:srgbClr val="D4AF37">
                <a:alpha val="10000"/>
              </a:srgbClr>
            </a:solidFill>
            <a:prstDash val="solid"/>
          </a:ln>
        </p:spPr>
      </p:sp>
      <p:sp>
        <p:nvSpPr>
          <p:cNvPr id="13" name="Shape 11"/>
          <p:cNvSpPr/>
          <p:nvPr/>
        </p:nvSpPr>
        <p:spPr>
          <a:xfrm>
            <a:off x="7680960" y="5120640"/>
            <a:ext cx="457200" cy="457200"/>
          </a:xfrm>
          <a:prstGeom prst="rect">
            <a:avLst/>
          </a:prstGeom>
          <a:solidFill>
            <a:srgbClr val="D4AF37">
              <a:alpha val="4000"/>
            </a:srgbClr>
          </a:solidFill>
          <a:ln w="3175">
            <a:solidFill>
              <a:srgbClr val="D4AF37">
                <a:alpha val="10000"/>
              </a:srgbClr>
            </a:solidFill>
            <a:prstDash val="solid"/>
          </a:ln>
        </p:spPr>
      </p:sp>
      <p:sp>
        <p:nvSpPr>
          <p:cNvPr id="14" name="Shape 12"/>
          <p:cNvSpPr/>
          <p:nvPr/>
        </p:nvSpPr>
        <p:spPr>
          <a:xfrm>
            <a:off x="8138160" y="2834640"/>
            <a:ext cx="457200" cy="457200"/>
          </a:xfrm>
          <a:prstGeom prst="rect">
            <a:avLst/>
          </a:prstGeom>
          <a:solidFill>
            <a:srgbClr val="D4AF37">
              <a:alpha val="4000"/>
            </a:srgbClr>
          </a:solidFill>
          <a:ln w="3175">
            <a:solidFill>
              <a:srgbClr val="D4AF37">
                <a:alpha val="10000"/>
              </a:srgbClr>
            </a:solidFill>
            <a:prstDash val="solid"/>
          </a:ln>
        </p:spPr>
      </p:sp>
      <p:sp>
        <p:nvSpPr>
          <p:cNvPr id="15" name="Shape 13"/>
          <p:cNvSpPr/>
          <p:nvPr/>
        </p:nvSpPr>
        <p:spPr>
          <a:xfrm>
            <a:off x="8138160" y="3749040"/>
            <a:ext cx="457200" cy="457200"/>
          </a:xfrm>
          <a:prstGeom prst="rect">
            <a:avLst/>
          </a:prstGeom>
          <a:solidFill>
            <a:srgbClr val="D4AF37">
              <a:alpha val="4000"/>
            </a:srgbClr>
          </a:solidFill>
          <a:ln w="3175">
            <a:solidFill>
              <a:srgbClr val="D4AF37">
                <a:alpha val="10000"/>
              </a:srgbClr>
            </a:solidFill>
            <a:prstDash val="solid"/>
          </a:ln>
        </p:spPr>
      </p:sp>
      <p:sp>
        <p:nvSpPr>
          <p:cNvPr id="16" name="Shape 14"/>
          <p:cNvSpPr/>
          <p:nvPr/>
        </p:nvSpPr>
        <p:spPr>
          <a:xfrm>
            <a:off x="8138160" y="4663440"/>
            <a:ext cx="457200" cy="457200"/>
          </a:xfrm>
          <a:prstGeom prst="rect">
            <a:avLst/>
          </a:prstGeom>
          <a:solidFill>
            <a:srgbClr val="D4AF37">
              <a:alpha val="4000"/>
            </a:srgbClr>
          </a:solidFill>
          <a:ln w="3175">
            <a:solidFill>
              <a:srgbClr val="D4AF37">
                <a:alpha val="10000"/>
              </a:srgbClr>
            </a:solidFill>
            <a:prstDash val="solid"/>
          </a:ln>
        </p:spPr>
      </p:sp>
      <p:sp>
        <p:nvSpPr>
          <p:cNvPr id="17" name="Shape 15"/>
          <p:cNvSpPr/>
          <p:nvPr/>
        </p:nvSpPr>
        <p:spPr>
          <a:xfrm>
            <a:off x="8595360" y="3291840"/>
            <a:ext cx="457200" cy="457200"/>
          </a:xfrm>
          <a:prstGeom prst="rect">
            <a:avLst/>
          </a:prstGeom>
          <a:solidFill>
            <a:srgbClr val="D4AF37">
              <a:alpha val="4000"/>
            </a:srgbClr>
          </a:solidFill>
          <a:ln w="3175">
            <a:solidFill>
              <a:srgbClr val="D4AF37">
                <a:alpha val="10000"/>
              </a:srgbClr>
            </a:solidFill>
            <a:prstDash val="solid"/>
          </a:ln>
        </p:spPr>
      </p:sp>
      <p:sp>
        <p:nvSpPr>
          <p:cNvPr id="18" name="Shape 16"/>
          <p:cNvSpPr/>
          <p:nvPr/>
        </p:nvSpPr>
        <p:spPr>
          <a:xfrm>
            <a:off x="8595360" y="4206240"/>
            <a:ext cx="457200" cy="457200"/>
          </a:xfrm>
          <a:prstGeom prst="rect">
            <a:avLst/>
          </a:prstGeom>
          <a:solidFill>
            <a:srgbClr val="D4AF37">
              <a:alpha val="4000"/>
            </a:srgbClr>
          </a:solidFill>
          <a:ln w="3175">
            <a:solidFill>
              <a:srgbClr val="D4AF37">
                <a:alpha val="10000"/>
              </a:srgbClr>
            </a:solidFill>
            <a:prstDash val="solid"/>
          </a:ln>
        </p:spPr>
      </p:sp>
      <p:sp>
        <p:nvSpPr>
          <p:cNvPr id="19" name="Shape 17"/>
          <p:cNvSpPr/>
          <p:nvPr/>
        </p:nvSpPr>
        <p:spPr>
          <a:xfrm>
            <a:off x="8595360" y="5120640"/>
            <a:ext cx="457200" cy="457200"/>
          </a:xfrm>
          <a:prstGeom prst="rect">
            <a:avLst/>
          </a:prstGeom>
          <a:solidFill>
            <a:srgbClr val="D4AF37">
              <a:alpha val="4000"/>
            </a:srgbClr>
          </a:solidFill>
          <a:ln w="3175">
            <a:solidFill>
              <a:srgbClr val="D4AF37">
                <a:alpha val="10000"/>
              </a:srgbClr>
            </a:solidFill>
            <a:prstDash val="solid"/>
          </a:ln>
        </p:spPr>
      </p:sp>
      <p:sp>
        <p:nvSpPr>
          <p:cNvPr id="21" name="Text 19"/>
          <p:cNvSpPr txBox="1"/>
          <p:nvPr/>
        </p:nvSpPr>
        <p:spPr>
          <a:xfrm>
            <a:off x="457200" y="411480"/>
            <a:ext cx="7315200" cy="457200"/>
          </a:xfrm>
          <a:prstGeom prst="rect">
            <a:avLst/>
          </a:prstGeom>
          <a:noFill/>
          <a:ln/>
        </p:spPr>
        <p:txBody>
          <a:bodyPr wrap="square" lIns="0" tIns="0" rIns="0" bIns="0" rtlCol="0" anchor="ctr"/>
          <a:lstStyle/>
          <a:p>
            <a:pPr marL="0" indent="0">
              <a:buNone/>
            </a:pPr>
            <a:r>
              <a:rPr lang="en-US" sz="2200" b="1" dirty="0">
                <a:solidFill>
                  <a:srgbClr val="FFFFFF"/>
                </a:solidFill>
                <a:latin typeface="Poppins" pitchFamily="34" charset="0"/>
                <a:ea typeface="Poppins" pitchFamily="34" charset="-122"/>
                <a:cs typeface="Poppins" pitchFamily="34" charset="-120"/>
              </a:rPr>
              <a:t>Real Data. Measurable Results.</a:t>
            </a:r>
            <a:endParaRPr lang="en-US" sz="2200" dirty="0"/>
          </a:p>
        </p:txBody>
      </p:sp>
      <p:sp>
        <p:nvSpPr>
          <p:cNvPr id="22" name="Shape 20"/>
          <p:cNvSpPr/>
          <p:nvPr/>
        </p:nvSpPr>
        <p:spPr>
          <a:xfrm>
            <a:off x="457200" y="384048"/>
            <a:ext cx="457200" cy="0"/>
          </a:xfrm>
          <a:prstGeom prst="line">
            <a:avLst/>
          </a:prstGeom>
          <a:noFill/>
          <a:ln w="19050">
            <a:solidFill>
              <a:srgbClr val="D4AF37"/>
            </a:solidFill>
            <a:prstDash val="solid"/>
          </a:ln>
        </p:spPr>
      </p:sp>
      <p:sp>
        <p:nvSpPr>
          <p:cNvPr id="23" name="Metric"/>
          <p:cNvSpPr/>
          <p:nvPr/>
        </p:nvSpPr>
        <p:spPr>
          <a:xfrm>
            <a:off x="457200" y="914400"/>
            <a:ext cx="1920240" cy="640080"/>
          </a:xfrm>
          <a:prstGeom prst="roundRect">
            <a:avLst>
              <a:gd name="adj" fmla="val 11429"/>
            </a:avLst>
          </a:prstGeom>
          <a:solidFill>
            <a:srgbClr val="17181D">
              <a:alpha val="95000"/>
            </a:srgbClr>
          </a:solidFill>
          <a:ln w="9525">
            <a:solidFill>
              <a:srgbClr val="D4AF37">
                <a:alpha val="55000"/>
              </a:srgbClr>
            </a:solidFill>
            <a:prstDash val="solid"/>
          </a:ln>
        </p:spPr>
      </p:sp>
      <p:sp>
        <p:nvSpPr>
          <p:cNvPr id="24" name="Text 22"/>
          <p:cNvSpPr txBox="1"/>
          <p:nvPr/>
        </p:nvSpPr>
        <p:spPr>
          <a:xfrm>
            <a:off x="457200" y="932688"/>
            <a:ext cx="1920240" cy="365760"/>
          </a:xfrm>
          <a:prstGeom prst="rect">
            <a:avLst/>
          </a:prstGeom>
          <a:noFill/>
          <a:ln/>
        </p:spPr>
        <p:txBody>
          <a:bodyPr wrap="square" lIns="0" tIns="0" rIns="0" bIns="0" rtlCol="0" anchor="ctr"/>
          <a:lstStyle/>
          <a:p>
            <a:pPr marL="0" indent="0" algn="ctr">
              <a:buNone/>
            </a:pPr>
            <a:r>
              <a:rPr lang="en-US" sz="2000" b="1" dirty="0">
                <a:solidFill>
                  <a:srgbClr val="D4AF37"/>
                </a:solidFill>
                <a:latin typeface="Poppins" pitchFamily="34" charset="0"/>
                <a:ea typeface="Poppins" pitchFamily="34" charset="-122"/>
                <a:cs typeface="Poppins" pitchFamily="34" charset="-120"/>
              </a:rPr>
              <a:t>916</a:t>
            </a:r>
            <a:endParaRPr lang="en-US" sz="2000" dirty="0"/>
          </a:p>
        </p:txBody>
      </p:sp>
      <p:sp>
        <p:nvSpPr>
          <p:cNvPr id="25" name="Text 23"/>
          <p:cNvSpPr txBox="1"/>
          <p:nvPr/>
        </p:nvSpPr>
        <p:spPr>
          <a:xfrm>
            <a:off x="457200" y="1280160"/>
            <a:ext cx="1920240" cy="228600"/>
          </a:xfrm>
          <a:prstGeom prst="rect">
            <a:avLst/>
          </a:prstGeom>
          <a:noFill/>
          <a:ln/>
        </p:spPr>
        <p:txBody>
          <a:bodyPr wrap="square" lIns="0" tIns="0" rIns="0" bIns="0" rtlCol="0" anchor="ctr"/>
          <a:lstStyle/>
          <a:p>
            <a:pPr marL="0" indent="0" algn="ctr">
              <a:buNone/>
            </a:pPr>
            <a:r>
              <a:rPr lang="en-US" sz="750" dirty="0">
                <a:solidFill>
                  <a:srgbClr val="C9CCD1"/>
                </a:solidFill>
                <a:latin typeface="Poppins" pitchFamily="34" charset="0"/>
                <a:ea typeface="Poppins" pitchFamily="34" charset="-122"/>
                <a:cs typeface="Poppins" pitchFamily="34" charset="-120"/>
              </a:rPr>
              <a:t>Real Chess.com Games</a:t>
            </a:r>
            <a:endParaRPr lang="en-US" sz="750" dirty="0"/>
          </a:p>
        </p:txBody>
      </p:sp>
      <p:sp>
        <p:nvSpPr>
          <p:cNvPr id="26" name="Metric"/>
          <p:cNvSpPr/>
          <p:nvPr/>
        </p:nvSpPr>
        <p:spPr>
          <a:xfrm>
            <a:off x="2532888" y="914400"/>
            <a:ext cx="1920240" cy="640080"/>
          </a:xfrm>
          <a:prstGeom prst="roundRect">
            <a:avLst>
              <a:gd name="adj" fmla="val 11429"/>
            </a:avLst>
          </a:prstGeom>
          <a:solidFill>
            <a:srgbClr val="17181D">
              <a:alpha val="95000"/>
            </a:srgbClr>
          </a:solidFill>
          <a:ln w="9525">
            <a:solidFill>
              <a:srgbClr val="D4AF37">
                <a:alpha val="55000"/>
              </a:srgbClr>
            </a:solidFill>
            <a:prstDash val="solid"/>
          </a:ln>
        </p:spPr>
      </p:sp>
      <p:sp>
        <p:nvSpPr>
          <p:cNvPr id="27" name="Text 25"/>
          <p:cNvSpPr txBox="1"/>
          <p:nvPr/>
        </p:nvSpPr>
        <p:spPr>
          <a:xfrm>
            <a:off x="2532888" y="932688"/>
            <a:ext cx="1920240" cy="365760"/>
          </a:xfrm>
          <a:prstGeom prst="rect">
            <a:avLst/>
          </a:prstGeom>
          <a:noFill/>
          <a:ln/>
        </p:spPr>
        <p:txBody>
          <a:bodyPr wrap="square" lIns="0" tIns="0" rIns="0" bIns="0" rtlCol="0" anchor="ctr"/>
          <a:lstStyle/>
          <a:p>
            <a:pPr marL="0" indent="0" algn="ctr">
              <a:buNone/>
            </a:pPr>
            <a:r>
              <a:rPr lang="en-US" sz="2000" b="1" dirty="0">
                <a:solidFill>
                  <a:srgbClr val="D4AF37"/>
                </a:solidFill>
                <a:latin typeface="Poppins" pitchFamily="34" charset="0"/>
                <a:ea typeface="Poppins" pitchFamily="34" charset="-122"/>
                <a:cs typeface="Poppins" pitchFamily="34" charset="-120"/>
              </a:rPr>
              <a:t>55,968</a:t>
            </a:r>
            <a:endParaRPr lang="en-US" sz="2000" dirty="0"/>
          </a:p>
        </p:txBody>
      </p:sp>
      <p:sp>
        <p:nvSpPr>
          <p:cNvPr id="28" name="Text 26"/>
          <p:cNvSpPr txBox="1"/>
          <p:nvPr/>
        </p:nvSpPr>
        <p:spPr>
          <a:xfrm>
            <a:off x="2532888" y="1280160"/>
            <a:ext cx="1920240" cy="228600"/>
          </a:xfrm>
          <a:prstGeom prst="rect">
            <a:avLst/>
          </a:prstGeom>
          <a:noFill/>
          <a:ln/>
        </p:spPr>
        <p:txBody>
          <a:bodyPr wrap="square" lIns="0" tIns="0" rIns="0" bIns="0" rtlCol="0" anchor="ctr"/>
          <a:lstStyle/>
          <a:p>
            <a:pPr marL="0" indent="0" algn="ctr">
              <a:buNone/>
            </a:pPr>
            <a:r>
              <a:rPr lang="en-US" sz="750" dirty="0">
                <a:solidFill>
                  <a:srgbClr val="C9CCD1"/>
                </a:solidFill>
                <a:latin typeface="Poppins" pitchFamily="34" charset="0"/>
                <a:ea typeface="Poppins" pitchFamily="34" charset="-122"/>
                <a:cs typeface="Poppins" pitchFamily="34" charset="-120"/>
              </a:rPr>
              <a:t>Position Analyses</a:t>
            </a:r>
            <a:endParaRPr lang="en-US" sz="750" dirty="0"/>
          </a:p>
        </p:txBody>
      </p:sp>
      <p:sp>
        <p:nvSpPr>
          <p:cNvPr id="29" name="Metric"/>
          <p:cNvSpPr/>
          <p:nvPr/>
        </p:nvSpPr>
        <p:spPr>
          <a:xfrm>
            <a:off x="4608576" y="914400"/>
            <a:ext cx="1920240" cy="640080"/>
          </a:xfrm>
          <a:prstGeom prst="roundRect">
            <a:avLst>
              <a:gd name="adj" fmla="val 11429"/>
            </a:avLst>
          </a:prstGeom>
          <a:solidFill>
            <a:srgbClr val="17181D">
              <a:alpha val="95000"/>
            </a:srgbClr>
          </a:solidFill>
          <a:ln w="9525">
            <a:solidFill>
              <a:srgbClr val="D4AF37">
                <a:alpha val="55000"/>
              </a:srgbClr>
            </a:solidFill>
            <a:prstDash val="solid"/>
          </a:ln>
        </p:spPr>
      </p:sp>
      <p:sp>
        <p:nvSpPr>
          <p:cNvPr id="30" name="Text 28"/>
          <p:cNvSpPr txBox="1"/>
          <p:nvPr/>
        </p:nvSpPr>
        <p:spPr>
          <a:xfrm>
            <a:off x="4608576" y="932688"/>
            <a:ext cx="1920240" cy="365760"/>
          </a:xfrm>
          <a:prstGeom prst="rect">
            <a:avLst/>
          </a:prstGeom>
          <a:noFill/>
          <a:ln/>
        </p:spPr>
        <p:txBody>
          <a:bodyPr wrap="square" lIns="0" tIns="0" rIns="0" bIns="0" rtlCol="0" anchor="ctr"/>
          <a:lstStyle/>
          <a:p>
            <a:pPr marL="0" indent="0" algn="ctr">
              <a:buNone/>
            </a:pPr>
            <a:r>
              <a:rPr lang="en-US" sz="2000" b="1" dirty="0">
                <a:solidFill>
                  <a:srgbClr val="D4AF37"/>
                </a:solidFill>
                <a:latin typeface="Poppins" pitchFamily="34" charset="0"/>
                <a:ea typeface="Poppins" pitchFamily="34" charset="-122"/>
                <a:cs typeface="Poppins" pitchFamily="34" charset="-120"/>
              </a:rPr>
              <a:t>14,264</a:t>
            </a:r>
            <a:endParaRPr lang="en-US" sz="2000" dirty="0"/>
          </a:p>
        </p:txBody>
      </p:sp>
      <p:sp>
        <p:nvSpPr>
          <p:cNvPr id="31" name="Text 29"/>
          <p:cNvSpPr txBox="1"/>
          <p:nvPr/>
        </p:nvSpPr>
        <p:spPr>
          <a:xfrm>
            <a:off x="4608576" y="1280160"/>
            <a:ext cx="1920240" cy="228600"/>
          </a:xfrm>
          <a:prstGeom prst="rect">
            <a:avLst/>
          </a:prstGeom>
          <a:noFill/>
          <a:ln/>
        </p:spPr>
        <p:txBody>
          <a:bodyPr wrap="square" lIns="0" tIns="0" rIns="0" bIns="0" rtlCol="0" anchor="ctr"/>
          <a:lstStyle/>
          <a:p>
            <a:pPr marL="0" indent="0" algn="ctr">
              <a:buNone/>
            </a:pPr>
            <a:r>
              <a:rPr lang="en-US" sz="750" dirty="0">
                <a:solidFill>
                  <a:srgbClr val="C9CCD1"/>
                </a:solidFill>
                <a:latin typeface="Poppins" pitchFamily="34" charset="0"/>
                <a:ea typeface="Poppins" pitchFamily="34" charset="-122"/>
                <a:cs typeface="Poppins" pitchFamily="34" charset="-120"/>
              </a:rPr>
              <a:t>ML Dataset Records</a:t>
            </a:r>
            <a:endParaRPr lang="en-US" sz="750" dirty="0"/>
          </a:p>
        </p:txBody>
      </p:sp>
      <p:sp>
        <p:nvSpPr>
          <p:cNvPr id="32" name="Metric"/>
          <p:cNvSpPr/>
          <p:nvPr/>
        </p:nvSpPr>
        <p:spPr>
          <a:xfrm>
            <a:off x="6684264" y="914400"/>
            <a:ext cx="1920240" cy="640080"/>
          </a:xfrm>
          <a:prstGeom prst="roundRect">
            <a:avLst>
              <a:gd name="adj" fmla="val 11429"/>
            </a:avLst>
          </a:prstGeom>
          <a:solidFill>
            <a:srgbClr val="17181D">
              <a:alpha val="95000"/>
            </a:srgbClr>
          </a:solidFill>
          <a:ln w="9525">
            <a:solidFill>
              <a:srgbClr val="D4AF37">
                <a:alpha val="55000"/>
              </a:srgbClr>
            </a:solidFill>
            <a:prstDash val="solid"/>
          </a:ln>
        </p:spPr>
      </p:sp>
      <p:sp>
        <p:nvSpPr>
          <p:cNvPr id="33" name="Text 31"/>
          <p:cNvSpPr txBox="1"/>
          <p:nvPr/>
        </p:nvSpPr>
        <p:spPr>
          <a:xfrm>
            <a:off x="6684264" y="932688"/>
            <a:ext cx="1920240" cy="365760"/>
          </a:xfrm>
          <a:prstGeom prst="rect">
            <a:avLst/>
          </a:prstGeom>
          <a:noFill/>
          <a:ln/>
        </p:spPr>
        <p:txBody>
          <a:bodyPr wrap="square" lIns="0" tIns="0" rIns="0" bIns="0" rtlCol="0" anchor="ctr"/>
          <a:lstStyle/>
          <a:p>
            <a:pPr marL="0" indent="0" algn="ctr">
              <a:buNone/>
            </a:pPr>
            <a:r>
              <a:rPr lang="en-US" sz="2000" b="1" dirty="0">
                <a:solidFill>
                  <a:srgbClr val="D4AF37"/>
                </a:solidFill>
                <a:latin typeface="Poppins" pitchFamily="34" charset="0"/>
                <a:cs typeface="Poppins" pitchFamily="34" charset="-120"/>
              </a:rPr>
              <a:t>5</a:t>
            </a:r>
            <a:endParaRPr lang="en-US" sz="2000" dirty="0"/>
          </a:p>
        </p:txBody>
      </p:sp>
      <p:sp>
        <p:nvSpPr>
          <p:cNvPr id="34" name="Text 32"/>
          <p:cNvSpPr txBox="1"/>
          <p:nvPr/>
        </p:nvSpPr>
        <p:spPr>
          <a:xfrm>
            <a:off x="6684264" y="1280160"/>
            <a:ext cx="1920240" cy="228600"/>
          </a:xfrm>
          <a:prstGeom prst="rect">
            <a:avLst/>
          </a:prstGeom>
          <a:noFill/>
          <a:ln/>
        </p:spPr>
        <p:txBody>
          <a:bodyPr wrap="square" lIns="0" tIns="0" rIns="0" bIns="0" rtlCol="0" anchor="ctr"/>
          <a:lstStyle/>
          <a:p>
            <a:pPr marL="0" indent="0" algn="ctr">
              <a:buNone/>
            </a:pPr>
            <a:r>
              <a:rPr lang="en-US" sz="750" dirty="0">
                <a:solidFill>
                  <a:srgbClr val="C9CCD1"/>
                </a:solidFill>
                <a:latin typeface="Poppins" pitchFamily="34" charset="0"/>
                <a:cs typeface="Poppins" pitchFamily="34" charset="-120"/>
              </a:rPr>
              <a:t>Epoch</a:t>
            </a:r>
            <a:endParaRPr lang="en-US" sz="7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394960" cy="2304288"/>
        </p:xfrm>
        <a:graphic>
          <a:graphicData uri="http://schemas.openxmlformats.org/drawingml/2006/table">
            <a:tbl>
              <a:tblPr/>
              <a:tblGrid>
                <a:gridCol w="16459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256032">
                <a:tc>
                  <a:txBody>
                    <a:bodyPr/>
                    <a:lstStyle/>
                    <a:p>
                      <a:pPr marL="0" indent="0">
                        <a:buNone/>
                      </a:pPr>
                      <a:r>
                        <a:rPr lang="en-US" sz="750" b="1" dirty="0">
                          <a:solidFill>
                            <a:srgbClr val="D4AF37"/>
                          </a:solidFill>
                          <a:latin typeface="Poppins" pitchFamily="34" charset="0"/>
                          <a:ea typeface="Poppins" pitchFamily="34" charset="-122"/>
                          <a:cs typeface="Poppins" pitchFamily="34" charset="-120"/>
                        </a:rPr>
                        <a:t>Metric</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F2026"/>
                    </a:solidFill>
                  </a:tcPr>
                </a:tc>
                <a:tc>
                  <a:txBody>
                    <a:bodyPr/>
                    <a:lstStyle/>
                    <a:p>
                      <a:pPr marL="0" indent="0">
                        <a:buNone/>
                      </a:pPr>
                      <a:r>
                        <a:rPr lang="en-US" sz="750" b="1" dirty="0">
                          <a:solidFill>
                            <a:srgbClr val="D4AF37"/>
                          </a:solidFill>
                          <a:latin typeface="Poppins" pitchFamily="34" charset="0"/>
                          <a:ea typeface="Poppins" pitchFamily="34" charset="-122"/>
                          <a:cs typeface="Poppins" pitchFamily="34" charset="-120"/>
                        </a:rPr>
                        <a:t>Current Self</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F2026"/>
                    </a:solidFill>
                  </a:tcPr>
                </a:tc>
                <a:tc>
                  <a:txBody>
                    <a:bodyPr/>
                    <a:lstStyle/>
                    <a:p>
                      <a:pPr marL="0" indent="0">
                        <a:buNone/>
                      </a:pPr>
                      <a:r>
                        <a:rPr lang="en-US" sz="750" b="1" dirty="0">
                          <a:solidFill>
                            <a:srgbClr val="D4AF37"/>
                          </a:solidFill>
                          <a:latin typeface="Poppins" pitchFamily="34" charset="0"/>
                          <a:ea typeface="Poppins" pitchFamily="34" charset="-122"/>
                          <a:cs typeface="Poppins" pitchFamily="34" charset="-120"/>
                        </a:rPr>
                        <a:t>Peak Self</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F2026"/>
                    </a:solidFill>
                  </a:tcPr>
                </a:tc>
                <a:tc>
                  <a:txBody>
                    <a:bodyPr/>
                    <a:lstStyle/>
                    <a:p>
                      <a:pPr marL="0" indent="0">
                        <a:buNone/>
                      </a:pPr>
                      <a:r>
                        <a:rPr lang="en-US" sz="750" b="1" dirty="0">
                          <a:solidFill>
                            <a:srgbClr val="D4AF37"/>
                          </a:solidFill>
                          <a:latin typeface="Poppins" pitchFamily="34" charset="0"/>
                          <a:ea typeface="Poppins" pitchFamily="34" charset="-122"/>
                          <a:cs typeface="Poppins" pitchFamily="34" charset="-120"/>
                        </a:rPr>
                        <a:t>Status</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F2026"/>
                    </a:solidFill>
                  </a:tcPr>
                </a:tc>
                <a:extLst>
                  <a:ext uri="{0D108BD9-81ED-4DB2-BD59-A6C34878D82A}">
                    <a16:rowId xmlns:a16="http://schemas.microsoft.com/office/drawing/2014/main" val="10000"/>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Top-1 Move Accuracy</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26.70% – 33.33%</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N/A / policy optimized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Evaluated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1"/>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Top-3 Move Accuracy</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54.76% – 66.67%</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N/A / policy optimized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Evaluated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2"/>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Policy Rank Accuracy</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100.00%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Evaluated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3"/>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Mean Reciprocal Rank</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0.5198</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1.1000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Evaluated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4"/>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Expected Calibration Error</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0.0555 – 0.0607</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Evaluated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5"/>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Macro Move-Type Distance</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0.0000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0.0000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Evaluated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6"/>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Weakness Reduction Rate</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Baseline</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35.00% – 38.00%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Improved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7"/>
                  </a:ext>
                </a:extLst>
              </a:tr>
              <a:tr h="256032">
                <a:tc>
                  <a:txBody>
                    <a:bodyPr/>
                    <a:lstStyle/>
                    <a:p>
                      <a:pPr marL="0" indent="0">
                        <a:buNone/>
                      </a:pPr>
                      <a:r>
                        <a:rPr lang="en-US" sz="750" dirty="0">
                          <a:solidFill>
                            <a:srgbClr val="FFFFFF"/>
                          </a:solidFill>
                          <a:latin typeface="Poppins" pitchFamily="34" charset="0"/>
                          <a:ea typeface="Poppins" pitchFamily="34" charset="-122"/>
                          <a:cs typeface="Poppins" pitchFamily="34" charset="-120"/>
                        </a:rPr>
                        <a:t>Style Preservation Rate</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100.00%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dirty="0">
                          <a:solidFill>
                            <a:srgbClr val="C9CCD1"/>
                          </a:solidFill>
                          <a:latin typeface="Poppins" pitchFamily="34" charset="0"/>
                          <a:ea typeface="Poppins" pitchFamily="34" charset="-122"/>
                          <a:cs typeface="Poppins" pitchFamily="34" charset="-120"/>
                        </a:rPr>
                        <a:t>72.00% – 75.00%</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tc>
                  <a:txBody>
                    <a:bodyPr/>
                    <a:lstStyle/>
                    <a:p>
                      <a:pPr marL="0" indent="0">
                        <a:buNone/>
                      </a:pPr>
                      <a:r>
                        <a:rPr lang="en-US" sz="750" b="1" dirty="0">
                          <a:solidFill>
                            <a:srgbClr val="10B981"/>
                          </a:solidFill>
                          <a:latin typeface="Poppins" pitchFamily="34" charset="0"/>
                          <a:ea typeface="Poppins" pitchFamily="34" charset="-122"/>
                          <a:cs typeface="Poppins" pitchFamily="34" charset="-120"/>
                        </a:rPr>
                        <a:t>Preserved</a:t>
                      </a:r>
                      <a:endParaRPr lang="en-US" sz="750" dirty="0">
                        <a:latin typeface="Poppins" charset="0"/>
                        <a:ea typeface="Poppins" charset="0"/>
                        <a:cs typeface="Poppins" charset="0"/>
                      </a:endParaRPr>
                    </a:p>
                  </a:txBody>
                  <a:tcPr marL="73152" marR="73152" marT="0" marB="0" anchor="ctr">
                    <a:lnL w="6350" cap="flat" cmpd="sng" algn="ctr">
                      <a:solidFill>
                        <a:srgbClr val="2A2B31"/>
                      </a:solidFill>
                      <a:prstDash val="solid"/>
                      <a:round/>
                      <a:headEnd type="none" w="med" len="med"/>
                      <a:tailEnd type="none" w="med" len="med"/>
                    </a:lnL>
                    <a:lnR w="6350" cap="flat" cmpd="sng" algn="ctr">
                      <a:solidFill>
                        <a:srgbClr val="2A2B31"/>
                      </a:solidFill>
                      <a:prstDash val="solid"/>
                      <a:round/>
                      <a:headEnd type="none" w="med" len="med"/>
                      <a:tailEnd type="none" w="med" len="med"/>
                    </a:lnR>
                    <a:lnT w="6350" cap="flat" cmpd="sng" algn="ctr">
                      <a:solidFill>
                        <a:srgbClr val="2A2B31"/>
                      </a:solidFill>
                      <a:prstDash val="solid"/>
                      <a:round/>
                      <a:headEnd type="none" w="med" len="med"/>
                      <a:tailEnd type="none" w="med" len="med"/>
                    </a:lnT>
                    <a:lnB w="6350" cap="flat" cmpd="sng" algn="ctr">
                      <a:solidFill>
                        <a:srgbClr val="2A2B31"/>
                      </a:solidFill>
                      <a:prstDash val="solid"/>
                      <a:round/>
                      <a:headEnd type="none" w="med" len="med"/>
                      <a:tailEnd type="none" w="med" len="med"/>
                    </a:lnB>
                    <a:solidFill>
                      <a:srgbClr val="17181D"/>
                    </a:solidFill>
                  </a:tcPr>
                </a:tc>
                <a:extLst>
                  <a:ext uri="{0D108BD9-81ED-4DB2-BD59-A6C34878D82A}">
                    <a16:rowId xmlns:a16="http://schemas.microsoft.com/office/drawing/2014/main" val="10008"/>
                  </a:ext>
                </a:extLst>
              </a:tr>
            </a:tbl>
          </a:graphicData>
        </a:graphic>
      </p:graphicFrame>
      <p:sp>
        <p:nvSpPr>
          <p:cNvPr id="36" name="Text 33"/>
          <p:cNvSpPr txBox="1"/>
          <p:nvPr/>
        </p:nvSpPr>
        <p:spPr>
          <a:xfrm>
            <a:off x="457200" y="4023360"/>
            <a:ext cx="5394960" cy="182880"/>
          </a:xfrm>
          <a:prstGeom prst="rect">
            <a:avLst/>
          </a:prstGeom>
          <a:noFill/>
          <a:ln/>
        </p:spPr>
        <p:txBody>
          <a:bodyPr wrap="square" lIns="0" tIns="0" rIns="0" bIns="0" rtlCol="0" anchor="ctr"/>
          <a:lstStyle/>
          <a:p>
            <a:pPr marL="0" indent="0">
              <a:buNone/>
            </a:pPr>
            <a:r>
              <a:rPr lang="en-US" sz="650" i="1" dirty="0">
                <a:solidFill>
                  <a:srgbClr val="8A8F98"/>
                </a:solidFill>
                <a:latin typeface="Poppins" pitchFamily="34" charset="0"/>
                <a:ea typeface="Poppins" pitchFamily="34" charset="-122"/>
                <a:cs typeface="Poppins" pitchFamily="34" charset="-120"/>
              </a:rPr>
              <a:t>Peak Self metrics follow their own evaluation definitions and are not comparable to Current Self accuracy.</a:t>
            </a:r>
            <a:endParaRPr lang="en-US" sz="650" dirty="0"/>
          </a:p>
        </p:txBody>
      </p:sp>
      <p:sp>
        <p:nvSpPr>
          <p:cNvPr id="37" name="Key result"/>
          <p:cNvSpPr/>
          <p:nvPr/>
        </p:nvSpPr>
        <p:spPr>
          <a:xfrm>
            <a:off x="6035040" y="1691640"/>
            <a:ext cx="1280160" cy="1097280"/>
          </a:xfrm>
          <a:prstGeom prst="roundRect">
            <a:avLst>
              <a:gd name="adj" fmla="val 6667"/>
            </a:avLst>
          </a:prstGeom>
          <a:solidFill>
            <a:srgbClr val="17181D">
              <a:alpha val="95000"/>
            </a:srgbClr>
          </a:solidFill>
          <a:ln w="9525">
            <a:solidFill>
              <a:srgbClr val="D4AF37">
                <a:alpha val="55000"/>
              </a:srgbClr>
            </a:solidFill>
            <a:prstDash val="solid"/>
          </a:ln>
        </p:spPr>
      </p:sp>
      <p:sp>
        <p:nvSpPr>
          <p:cNvPr id="38" name="Text 35"/>
          <p:cNvSpPr txBox="1"/>
          <p:nvPr/>
        </p:nvSpPr>
        <p:spPr>
          <a:xfrm>
            <a:off x="6035040" y="1783080"/>
            <a:ext cx="1280160" cy="365760"/>
          </a:xfrm>
          <a:prstGeom prst="rect">
            <a:avLst/>
          </a:prstGeom>
          <a:noFill/>
          <a:ln/>
        </p:spPr>
        <p:txBody>
          <a:bodyPr wrap="square" lIns="0" tIns="0" rIns="0" bIns="0" rtlCol="0" anchor="ctr"/>
          <a:lstStyle/>
          <a:p>
            <a:pPr marL="0" indent="0" algn="ctr">
              <a:buNone/>
            </a:pPr>
            <a:r>
              <a:rPr lang="en-US" sz="1500" b="1" dirty="0">
                <a:solidFill>
                  <a:srgbClr val="D4AF37"/>
                </a:solidFill>
                <a:latin typeface="Poppins" pitchFamily="34" charset="0"/>
                <a:ea typeface="Poppins" pitchFamily="34" charset="-122"/>
                <a:cs typeface="Poppins" pitchFamily="34" charset="-120"/>
              </a:rPr>
              <a:t>100%</a:t>
            </a:r>
            <a:endParaRPr lang="en-US" sz="1500" dirty="0"/>
          </a:p>
        </p:txBody>
      </p:sp>
      <p:sp>
        <p:nvSpPr>
          <p:cNvPr id="39" name="Text 36"/>
          <p:cNvSpPr txBox="1"/>
          <p:nvPr/>
        </p:nvSpPr>
        <p:spPr>
          <a:xfrm>
            <a:off x="6080760" y="2167128"/>
            <a:ext cx="11887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Legal Move Execution</a:t>
            </a:r>
            <a:endParaRPr lang="en-US" sz="700" dirty="0"/>
          </a:p>
        </p:txBody>
      </p:sp>
      <p:sp>
        <p:nvSpPr>
          <p:cNvPr id="40" name="Text 37"/>
          <p:cNvSpPr txBox="1"/>
          <p:nvPr/>
        </p:nvSpPr>
        <p:spPr>
          <a:xfrm>
            <a:off x="6080760" y="2441448"/>
            <a:ext cx="1188720" cy="274320"/>
          </a:xfrm>
          <a:prstGeom prst="rect">
            <a:avLst/>
          </a:prstGeom>
          <a:noFill/>
          <a:ln/>
        </p:spPr>
        <p:txBody>
          <a:bodyPr wrap="square" lIns="0" tIns="0" rIns="0" bIns="0" rtlCol="0" anchor="ctr"/>
          <a:lstStyle/>
          <a:p>
            <a:pPr marL="0" indent="0" algn="ctr">
              <a:buNone/>
            </a:pPr>
            <a:r>
              <a:rPr lang="en-US" sz="650" dirty="0">
                <a:solidFill>
                  <a:srgbClr val="8A8F98"/>
                </a:solidFill>
                <a:latin typeface="Poppins" pitchFamily="34" charset="0"/>
                <a:ea typeface="Poppins" pitchFamily="34" charset="-122"/>
                <a:cs typeface="Poppins" pitchFamily="34" charset="-120"/>
              </a:rPr>
              <a:t>Candidate masking</a:t>
            </a:r>
            <a:endParaRPr lang="en-US" sz="650" dirty="0"/>
          </a:p>
        </p:txBody>
      </p:sp>
      <p:sp>
        <p:nvSpPr>
          <p:cNvPr id="41" name="Key result"/>
          <p:cNvSpPr/>
          <p:nvPr/>
        </p:nvSpPr>
        <p:spPr>
          <a:xfrm>
            <a:off x="7406640" y="1691640"/>
            <a:ext cx="1280160" cy="1097280"/>
          </a:xfrm>
          <a:prstGeom prst="roundRect">
            <a:avLst>
              <a:gd name="adj" fmla="val 6667"/>
            </a:avLst>
          </a:prstGeom>
          <a:solidFill>
            <a:srgbClr val="17181D">
              <a:alpha val="95000"/>
            </a:srgbClr>
          </a:solidFill>
          <a:ln w="9525">
            <a:solidFill>
              <a:srgbClr val="D4AF37">
                <a:alpha val="55000"/>
              </a:srgbClr>
            </a:solidFill>
            <a:prstDash val="solid"/>
          </a:ln>
        </p:spPr>
      </p:sp>
      <p:sp>
        <p:nvSpPr>
          <p:cNvPr id="42" name="Text 39"/>
          <p:cNvSpPr txBox="1"/>
          <p:nvPr/>
        </p:nvSpPr>
        <p:spPr>
          <a:xfrm>
            <a:off x="7406640" y="1783080"/>
            <a:ext cx="1280160" cy="365760"/>
          </a:xfrm>
          <a:prstGeom prst="rect">
            <a:avLst/>
          </a:prstGeom>
          <a:noFill/>
          <a:ln/>
        </p:spPr>
        <p:txBody>
          <a:bodyPr wrap="square" lIns="0" tIns="0" rIns="0" bIns="0" rtlCol="0" anchor="ctr"/>
          <a:lstStyle/>
          <a:p>
            <a:pPr marL="0" indent="0" algn="ctr">
              <a:buNone/>
            </a:pPr>
            <a:r>
              <a:rPr lang="en-US" sz="1500" b="1" dirty="0">
                <a:solidFill>
                  <a:srgbClr val="D4AF37"/>
                </a:solidFill>
                <a:latin typeface="Poppins" pitchFamily="34" charset="0"/>
                <a:ea typeface="Poppins" pitchFamily="34" charset="-122"/>
                <a:cs typeface="Poppins" pitchFamily="34" charset="-120"/>
              </a:rPr>
              <a:t>0.0000</a:t>
            </a:r>
            <a:endParaRPr lang="en-US" sz="1500" dirty="0"/>
          </a:p>
        </p:txBody>
      </p:sp>
      <p:sp>
        <p:nvSpPr>
          <p:cNvPr id="43" name="Text 40"/>
          <p:cNvSpPr txBox="1"/>
          <p:nvPr/>
        </p:nvSpPr>
        <p:spPr>
          <a:xfrm>
            <a:off x="7452360" y="2167128"/>
            <a:ext cx="11887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Move-Type Distance</a:t>
            </a:r>
            <a:endParaRPr lang="en-US" sz="700" dirty="0"/>
          </a:p>
        </p:txBody>
      </p:sp>
      <p:sp>
        <p:nvSpPr>
          <p:cNvPr id="44" name="Text 41"/>
          <p:cNvSpPr txBox="1"/>
          <p:nvPr/>
        </p:nvSpPr>
        <p:spPr>
          <a:xfrm>
            <a:off x="7452360" y="2441448"/>
            <a:ext cx="1188720" cy="274320"/>
          </a:xfrm>
          <a:prstGeom prst="rect">
            <a:avLst/>
          </a:prstGeom>
          <a:noFill/>
          <a:ln/>
        </p:spPr>
        <p:txBody>
          <a:bodyPr wrap="square" lIns="0" tIns="0" rIns="0" bIns="0" rtlCol="0" anchor="ctr"/>
          <a:lstStyle/>
          <a:p>
            <a:pPr marL="0" indent="0" algn="ctr">
              <a:buNone/>
            </a:pPr>
            <a:r>
              <a:rPr lang="en-US" sz="650" dirty="0">
                <a:solidFill>
                  <a:srgbClr val="8A8F98"/>
                </a:solidFill>
                <a:latin typeface="Poppins" pitchFamily="34" charset="0"/>
                <a:ea typeface="Poppins" pitchFamily="34" charset="-122"/>
                <a:cs typeface="Poppins" pitchFamily="34" charset="-120"/>
              </a:rPr>
              <a:t>Current Self, evaluated</a:t>
            </a:r>
            <a:endParaRPr lang="en-US" sz="650" dirty="0"/>
          </a:p>
        </p:txBody>
      </p:sp>
      <p:sp>
        <p:nvSpPr>
          <p:cNvPr id="45" name="Key result"/>
          <p:cNvSpPr/>
          <p:nvPr/>
        </p:nvSpPr>
        <p:spPr>
          <a:xfrm>
            <a:off x="6035040" y="2880360"/>
            <a:ext cx="1280160" cy="1097280"/>
          </a:xfrm>
          <a:prstGeom prst="roundRect">
            <a:avLst>
              <a:gd name="adj" fmla="val 6667"/>
            </a:avLst>
          </a:prstGeom>
          <a:solidFill>
            <a:srgbClr val="17181D">
              <a:alpha val="95000"/>
            </a:srgbClr>
          </a:solidFill>
          <a:ln w="9525">
            <a:solidFill>
              <a:srgbClr val="10B981">
                <a:alpha val="55000"/>
              </a:srgbClr>
            </a:solidFill>
            <a:prstDash val="solid"/>
          </a:ln>
        </p:spPr>
      </p:sp>
      <p:sp>
        <p:nvSpPr>
          <p:cNvPr id="46" name="Text 43"/>
          <p:cNvSpPr txBox="1"/>
          <p:nvPr/>
        </p:nvSpPr>
        <p:spPr>
          <a:xfrm>
            <a:off x="6035040" y="2971800"/>
            <a:ext cx="1280160" cy="365760"/>
          </a:xfrm>
          <a:prstGeom prst="rect">
            <a:avLst/>
          </a:prstGeom>
          <a:noFill/>
          <a:ln/>
        </p:spPr>
        <p:txBody>
          <a:bodyPr wrap="square" lIns="0" tIns="0" rIns="0" bIns="0" rtlCol="0" anchor="ctr"/>
          <a:lstStyle/>
          <a:p>
            <a:pPr marL="0" indent="0" algn="ctr">
              <a:buNone/>
            </a:pPr>
            <a:r>
              <a:rPr lang="en-US" sz="1500" b="1" dirty="0">
                <a:solidFill>
                  <a:srgbClr val="10B981"/>
                </a:solidFill>
                <a:latin typeface="Poppins" pitchFamily="34" charset="0"/>
                <a:ea typeface="Poppins" pitchFamily="34" charset="-122"/>
                <a:cs typeface="Poppins" pitchFamily="34" charset="-120"/>
              </a:rPr>
              <a:t>35–38%</a:t>
            </a:r>
            <a:endParaRPr lang="en-US" sz="1500" dirty="0"/>
          </a:p>
        </p:txBody>
      </p:sp>
      <p:sp>
        <p:nvSpPr>
          <p:cNvPr id="47" name="Text 44"/>
          <p:cNvSpPr txBox="1"/>
          <p:nvPr/>
        </p:nvSpPr>
        <p:spPr>
          <a:xfrm>
            <a:off x="6080760" y="3355848"/>
            <a:ext cx="11887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Weakness Reduction</a:t>
            </a:r>
            <a:endParaRPr lang="en-US" sz="700" dirty="0"/>
          </a:p>
        </p:txBody>
      </p:sp>
      <p:sp>
        <p:nvSpPr>
          <p:cNvPr id="48" name="Text 45"/>
          <p:cNvSpPr txBox="1"/>
          <p:nvPr/>
        </p:nvSpPr>
        <p:spPr>
          <a:xfrm>
            <a:off x="6080760" y="3630168"/>
            <a:ext cx="1188720" cy="274320"/>
          </a:xfrm>
          <a:prstGeom prst="rect">
            <a:avLst/>
          </a:prstGeom>
          <a:noFill/>
          <a:ln/>
        </p:spPr>
        <p:txBody>
          <a:bodyPr wrap="square" lIns="0" tIns="0" rIns="0" bIns="0" rtlCol="0" anchor="ctr"/>
          <a:lstStyle/>
          <a:p>
            <a:pPr marL="0" indent="0" algn="ctr">
              <a:buNone/>
            </a:pPr>
            <a:r>
              <a:rPr lang="en-US" sz="650" dirty="0">
                <a:solidFill>
                  <a:srgbClr val="8A8F98"/>
                </a:solidFill>
                <a:latin typeface="Poppins" pitchFamily="34" charset="0"/>
                <a:ea typeface="Poppins" pitchFamily="34" charset="-122"/>
                <a:cs typeface="Poppins" pitchFamily="34" charset="-120"/>
              </a:rPr>
              <a:t>Peak Self, evaluated</a:t>
            </a:r>
            <a:endParaRPr lang="en-US" sz="650" dirty="0"/>
          </a:p>
        </p:txBody>
      </p:sp>
      <p:sp>
        <p:nvSpPr>
          <p:cNvPr id="49" name="Key result"/>
          <p:cNvSpPr/>
          <p:nvPr/>
        </p:nvSpPr>
        <p:spPr>
          <a:xfrm>
            <a:off x="7406640" y="2880360"/>
            <a:ext cx="1280160" cy="1097280"/>
          </a:xfrm>
          <a:prstGeom prst="roundRect">
            <a:avLst>
              <a:gd name="adj" fmla="val 6667"/>
            </a:avLst>
          </a:prstGeom>
          <a:solidFill>
            <a:srgbClr val="17181D">
              <a:alpha val="95000"/>
            </a:srgbClr>
          </a:solidFill>
          <a:ln w="9525">
            <a:solidFill>
              <a:srgbClr val="10B981">
                <a:alpha val="55000"/>
              </a:srgbClr>
            </a:solidFill>
            <a:prstDash val="solid"/>
          </a:ln>
        </p:spPr>
      </p:sp>
      <p:sp>
        <p:nvSpPr>
          <p:cNvPr id="50" name="Text 47"/>
          <p:cNvSpPr txBox="1"/>
          <p:nvPr/>
        </p:nvSpPr>
        <p:spPr>
          <a:xfrm>
            <a:off x="7406640" y="2971800"/>
            <a:ext cx="1280160" cy="365760"/>
          </a:xfrm>
          <a:prstGeom prst="rect">
            <a:avLst/>
          </a:prstGeom>
          <a:noFill/>
          <a:ln/>
        </p:spPr>
        <p:txBody>
          <a:bodyPr wrap="square" lIns="0" tIns="0" rIns="0" bIns="0" rtlCol="0" anchor="ctr"/>
          <a:lstStyle/>
          <a:p>
            <a:pPr marL="0" indent="0" algn="ctr">
              <a:buNone/>
            </a:pPr>
            <a:r>
              <a:rPr lang="en-US" sz="1500" b="1" dirty="0">
                <a:solidFill>
                  <a:srgbClr val="10B981"/>
                </a:solidFill>
                <a:latin typeface="Poppins" pitchFamily="34" charset="0"/>
                <a:ea typeface="Poppins" pitchFamily="34" charset="-122"/>
                <a:cs typeface="Poppins" pitchFamily="34" charset="-120"/>
              </a:rPr>
              <a:t>72–75%</a:t>
            </a:r>
            <a:endParaRPr lang="en-US" sz="1500" dirty="0"/>
          </a:p>
        </p:txBody>
      </p:sp>
      <p:sp>
        <p:nvSpPr>
          <p:cNvPr id="51" name="Text 48"/>
          <p:cNvSpPr txBox="1"/>
          <p:nvPr/>
        </p:nvSpPr>
        <p:spPr>
          <a:xfrm>
            <a:off x="7452360" y="3355848"/>
            <a:ext cx="11887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Poppins" pitchFamily="34" charset="0"/>
                <a:ea typeface="Poppins" pitchFamily="34" charset="-122"/>
                <a:cs typeface="Poppins" pitchFamily="34" charset="-120"/>
              </a:rPr>
              <a:t>Style Preservation</a:t>
            </a:r>
            <a:endParaRPr lang="en-US" sz="700" dirty="0"/>
          </a:p>
        </p:txBody>
      </p:sp>
      <p:sp>
        <p:nvSpPr>
          <p:cNvPr id="52" name="Text 49"/>
          <p:cNvSpPr txBox="1"/>
          <p:nvPr/>
        </p:nvSpPr>
        <p:spPr>
          <a:xfrm>
            <a:off x="7452360" y="3630168"/>
            <a:ext cx="1188720" cy="274320"/>
          </a:xfrm>
          <a:prstGeom prst="rect">
            <a:avLst/>
          </a:prstGeom>
          <a:noFill/>
          <a:ln/>
        </p:spPr>
        <p:txBody>
          <a:bodyPr wrap="square" lIns="0" tIns="0" rIns="0" bIns="0" rtlCol="0" anchor="ctr"/>
          <a:lstStyle/>
          <a:p>
            <a:pPr marL="0" indent="0" algn="ctr">
              <a:buNone/>
            </a:pPr>
            <a:r>
              <a:rPr lang="en-US" sz="650" dirty="0">
                <a:solidFill>
                  <a:srgbClr val="8A8F98"/>
                </a:solidFill>
                <a:latin typeface="Poppins" pitchFamily="34" charset="0"/>
                <a:ea typeface="Poppins" pitchFamily="34" charset="-122"/>
                <a:cs typeface="Poppins" pitchFamily="34" charset="-120"/>
              </a:rPr>
              <a:t>Peak Self, evaluated</a:t>
            </a:r>
            <a:endParaRPr lang="en-US" sz="650" dirty="0"/>
          </a:p>
        </p:txBody>
      </p:sp>
      <p:sp>
        <p:nvSpPr>
          <p:cNvPr id="59" name="Prod"/>
          <p:cNvSpPr/>
          <p:nvPr/>
        </p:nvSpPr>
        <p:spPr>
          <a:xfrm>
            <a:off x="3200400" y="4279392"/>
            <a:ext cx="1280160" cy="384048"/>
          </a:xfrm>
          <a:prstGeom prst="roundRect">
            <a:avLst>
              <a:gd name="adj" fmla="val 19048"/>
            </a:avLst>
          </a:prstGeom>
          <a:solidFill>
            <a:srgbClr val="17181D">
              <a:alpha val="95000"/>
            </a:srgbClr>
          </a:solidFill>
          <a:ln w="9525">
            <a:solidFill>
              <a:srgbClr val="D4AF37">
                <a:alpha val="55000"/>
              </a:srgbClr>
            </a:solidFill>
            <a:prstDash val="solid"/>
          </a:ln>
        </p:spPr>
      </p:sp>
      <p:sp>
        <p:nvSpPr>
          <p:cNvPr id="60" name="Text 57"/>
          <p:cNvSpPr txBox="1"/>
          <p:nvPr/>
        </p:nvSpPr>
        <p:spPr>
          <a:xfrm>
            <a:off x="3200400" y="4279392"/>
            <a:ext cx="1280160" cy="219456"/>
          </a:xfrm>
          <a:prstGeom prst="rect">
            <a:avLst/>
          </a:prstGeom>
          <a:noFill/>
          <a:ln/>
        </p:spPr>
        <p:txBody>
          <a:bodyPr wrap="square" lIns="0" tIns="0" rIns="0" bIns="0" rtlCol="0" anchor="ctr"/>
          <a:lstStyle/>
          <a:p>
            <a:pPr marL="0" indent="0" algn="ctr">
              <a:buNone/>
            </a:pPr>
            <a:r>
              <a:rPr lang="en-US" sz="900" b="1" dirty="0">
                <a:solidFill>
                  <a:srgbClr val="D4AF37"/>
                </a:solidFill>
                <a:latin typeface="Poppins" pitchFamily="34" charset="0"/>
                <a:ea typeface="Poppins" pitchFamily="34" charset="-122"/>
                <a:cs typeface="Poppins" pitchFamily="34" charset="-120"/>
              </a:rPr>
              <a:t>502.5 req/s</a:t>
            </a:r>
            <a:endParaRPr lang="en-US" sz="900" dirty="0"/>
          </a:p>
        </p:txBody>
      </p:sp>
      <p:sp>
        <p:nvSpPr>
          <p:cNvPr id="61" name="Text 58"/>
          <p:cNvSpPr txBox="1"/>
          <p:nvPr/>
        </p:nvSpPr>
        <p:spPr>
          <a:xfrm>
            <a:off x="3200400" y="4480560"/>
            <a:ext cx="1280160" cy="164592"/>
          </a:xfrm>
          <a:prstGeom prst="rect">
            <a:avLst/>
          </a:prstGeom>
          <a:noFill/>
          <a:ln/>
        </p:spPr>
        <p:txBody>
          <a:bodyPr wrap="square" lIns="0" tIns="0" rIns="0" bIns="0" rtlCol="0" anchor="ctr"/>
          <a:lstStyle/>
          <a:p>
            <a:pPr marL="0" indent="0" algn="ctr">
              <a:buNone/>
            </a:pPr>
            <a:r>
              <a:rPr lang="en-US" sz="600" dirty="0">
                <a:solidFill>
                  <a:srgbClr val="8A8F98"/>
                </a:solidFill>
                <a:latin typeface="Poppins" pitchFamily="34" charset="0"/>
                <a:cs typeface="Poppins" pitchFamily="34" charset="-120"/>
              </a:rPr>
              <a:t>Health Throughput</a:t>
            </a:r>
            <a:endParaRPr lang="en-US" sz="600" dirty="0"/>
          </a:p>
        </p:txBody>
      </p:sp>
      <p:sp>
        <p:nvSpPr>
          <p:cNvPr id="62" name="Prod"/>
          <p:cNvSpPr/>
          <p:nvPr/>
        </p:nvSpPr>
        <p:spPr>
          <a:xfrm>
            <a:off x="4572000" y="4279392"/>
            <a:ext cx="1280160" cy="384048"/>
          </a:xfrm>
          <a:prstGeom prst="roundRect">
            <a:avLst>
              <a:gd name="adj" fmla="val 19048"/>
            </a:avLst>
          </a:prstGeom>
          <a:solidFill>
            <a:srgbClr val="17181D">
              <a:alpha val="95000"/>
            </a:srgbClr>
          </a:solidFill>
          <a:ln w="9525">
            <a:solidFill>
              <a:srgbClr val="D4AF37">
                <a:alpha val="55000"/>
              </a:srgbClr>
            </a:solidFill>
            <a:prstDash val="solid"/>
          </a:ln>
        </p:spPr>
      </p:sp>
      <p:sp>
        <p:nvSpPr>
          <p:cNvPr id="63" name="Text 60"/>
          <p:cNvSpPr txBox="1"/>
          <p:nvPr/>
        </p:nvSpPr>
        <p:spPr>
          <a:xfrm>
            <a:off x="4572000" y="4279392"/>
            <a:ext cx="1280160" cy="219456"/>
          </a:xfrm>
          <a:prstGeom prst="rect">
            <a:avLst/>
          </a:prstGeom>
          <a:noFill/>
          <a:ln/>
        </p:spPr>
        <p:txBody>
          <a:bodyPr wrap="square" lIns="0" tIns="0" rIns="0" bIns="0" rtlCol="0" anchor="ctr"/>
          <a:lstStyle/>
          <a:p>
            <a:pPr algn="ctr"/>
            <a:r>
              <a:rPr lang="en-US" sz="900" b="1" dirty="0">
                <a:solidFill>
                  <a:srgbClr val="D4AF37"/>
                </a:solidFill>
                <a:latin typeface="Poppins" pitchFamily="34" charset="0"/>
                <a:ea typeface="Poppins" pitchFamily="34" charset="-122"/>
                <a:cs typeface="Poppins" pitchFamily="34" charset="-120"/>
              </a:rPr>
              <a:t>6.32 </a:t>
            </a:r>
            <a:r>
              <a:rPr lang="en-US" sz="900" b="1" dirty="0" err="1">
                <a:solidFill>
                  <a:srgbClr val="D4AF37"/>
                </a:solidFill>
                <a:latin typeface="Poppins" pitchFamily="34" charset="0"/>
                <a:ea typeface="Poppins" pitchFamily="34" charset="-122"/>
                <a:cs typeface="Poppins" pitchFamily="34" charset="-120"/>
              </a:rPr>
              <a:t>ms</a:t>
            </a:r>
            <a:endParaRPr lang="en-US" sz="900" dirty="0"/>
          </a:p>
        </p:txBody>
      </p:sp>
      <p:sp>
        <p:nvSpPr>
          <p:cNvPr id="64" name="Text 61"/>
          <p:cNvSpPr txBox="1"/>
          <p:nvPr/>
        </p:nvSpPr>
        <p:spPr>
          <a:xfrm>
            <a:off x="4572000" y="4480560"/>
            <a:ext cx="1280160" cy="164592"/>
          </a:xfrm>
          <a:prstGeom prst="rect">
            <a:avLst/>
          </a:prstGeom>
          <a:noFill/>
          <a:ln/>
        </p:spPr>
        <p:txBody>
          <a:bodyPr wrap="square" lIns="0" tIns="0" rIns="0" bIns="0" rtlCol="0" anchor="ctr"/>
          <a:lstStyle/>
          <a:p>
            <a:pPr algn="ctr"/>
            <a:r>
              <a:rPr lang="en-US" sz="600" dirty="0">
                <a:solidFill>
                  <a:srgbClr val="8A8F98"/>
                </a:solidFill>
                <a:latin typeface="Poppins" pitchFamily="34" charset="0"/>
                <a:ea typeface="Poppins" pitchFamily="34" charset="-122"/>
                <a:cs typeface="Poppins" pitchFamily="34" charset="-120"/>
              </a:rPr>
              <a:t>Health p50</a:t>
            </a:r>
            <a:endParaRPr lang="en-US" sz="6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D"/>
        </a:solidFill>
        <a:effectLst/>
      </p:bgPr>
    </p:bg>
    <p:spTree>
      <p:nvGrpSpPr>
        <p:cNvPr id="1" name=""/>
        <p:cNvGrpSpPr/>
        <p:nvPr/>
      </p:nvGrpSpPr>
      <p:grpSpPr>
        <a:xfrm>
          <a:off x="0" y="0"/>
          <a:ext cx="0" cy="0"/>
          <a:chOff x="0" y="0"/>
          <a:chExt cx="0" cy="0"/>
        </a:xfrm>
      </p:grpSpPr>
      <p:sp>
        <p:nvSpPr>
          <p:cNvPr id="2" name="Shape 0"/>
          <p:cNvSpPr/>
          <p:nvPr/>
        </p:nvSpPr>
        <p:spPr>
          <a:xfrm>
            <a:off x="0" y="2194560"/>
            <a:ext cx="914400" cy="914400"/>
          </a:xfrm>
          <a:prstGeom prst="rect">
            <a:avLst/>
          </a:prstGeom>
          <a:solidFill>
            <a:srgbClr val="D4AF37">
              <a:alpha val="5000"/>
            </a:srgbClr>
          </a:solidFill>
          <a:ln w="3175">
            <a:solidFill>
              <a:srgbClr val="D4AF37">
                <a:alpha val="10000"/>
              </a:srgbClr>
            </a:solidFill>
            <a:prstDash val="solid"/>
          </a:ln>
        </p:spPr>
      </p:sp>
      <p:sp>
        <p:nvSpPr>
          <p:cNvPr id="3" name="Shape 1"/>
          <p:cNvSpPr/>
          <p:nvPr/>
        </p:nvSpPr>
        <p:spPr>
          <a:xfrm>
            <a:off x="0" y="4023360"/>
            <a:ext cx="914400" cy="914400"/>
          </a:xfrm>
          <a:prstGeom prst="rect">
            <a:avLst/>
          </a:prstGeom>
          <a:solidFill>
            <a:srgbClr val="D4AF37">
              <a:alpha val="5000"/>
            </a:srgbClr>
          </a:solidFill>
          <a:ln w="3175">
            <a:solidFill>
              <a:srgbClr val="D4AF37">
                <a:alpha val="10000"/>
              </a:srgbClr>
            </a:solidFill>
            <a:prstDash val="solid"/>
          </a:ln>
        </p:spPr>
      </p:sp>
      <p:sp>
        <p:nvSpPr>
          <p:cNvPr id="4" name="Shape 2"/>
          <p:cNvSpPr/>
          <p:nvPr/>
        </p:nvSpPr>
        <p:spPr>
          <a:xfrm>
            <a:off x="0" y="5852160"/>
            <a:ext cx="914400" cy="914400"/>
          </a:xfrm>
          <a:prstGeom prst="rect">
            <a:avLst/>
          </a:prstGeom>
          <a:solidFill>
            <a:srgbClr val="D4AF37">
              <a:alpha val="5000"/>
            </a:srgbClr>
          </a:solidFill>
          <a:ln w="3175">
            <a:solidFill>
              <a:srgbClr val="D4AF37">
                <a:alpha val="10000"/>
              </a:srgbClr>
            </a:solidFill>
            <a:prstDash val="solid"/>
          </a:ln>
        </p:spPr>
      </p:sp>
      <p:sp>
        <p:nvSpPr>
          <p:cNvPr id="5" name="Shape 3"/>
          <p:cNvSpPr/>
          <p:nvPr/>
        </p:nvSpPr>
        <p:spPr>
          <a:xfrm>
            <a:off x="0" y="7680960"/>
            <a:ext cx="914400" cy="914400"/>
          </a:xfrm>
          <a:prstGeom prst="rect">
            <a:avLst/>
          </a:prstGeom>
          <a:solidFill>
            <a:srgbClr val="D4AF37">
              <a:alpha val="5000"/>
            </a:srgbClr>
          </a:solidFill>
          <a:ln w="3175">
            <a:solidFill>
              <a:srgbClr val="D4AF37">
                <a:alpha val="10000"/>
              </a:srgbClr>
            </a:solidFill>
            <a:prstDash val="solid"/>
          </a:ln>
        </p:spPr>
      </p:sp>
      <p:sp>
        <p:nvSpPr>
          <p:cNvPr id="6" name="Shape 4"/>
          <p:cNvSpPr/>
          <p:nvPr/>
        </p:nvSpPr>
        <p:spPr>
          <a:xfrm>
            <a:off x="0" y="9509760"/>
            <a:ext cx="914400" cy="914400"/>
          </a:xfrm>
          <a:prstGeom prst="rect">
            <a:avLst/>
          </a:prstGeom>
          <a:solidFill>
            <a:srgbClr val="D4AF37">
              <a:alpha val="5000"/>
            </a:srgbClr>
          </a:solidFill>
          <a:ln w="3175">
            <a:solidFill>
              <a:srgbClr val="D4AF37">
                <a:alpha val="10000"/>
              </a:srgbClr>
            </a:solidFill>
            <a:prstDash val="solid"/>
          </a:ln>
        </p:spPr>
      </p:sp>
      <p:sp>
        <p:nvSpPr>
          <p:cNvPr id="7" name="Shape 5"/>
          <p:cNvSpPr/>
          <p:nvPr/>
        </p:nvSpPr>
        <p:spPr>
          <a:xfrm>
            <a:off x="914400" y="3108960"/>
            <a:ext cx="914400" cy="914400"/>
          </a:xfrm>
          <a:prstGeom prst="rect">
            <a:avLst/>
          </a:prstGeom>
          <a:solidFill>
            <a:srgbClr val="D4AF37">
              <a:alpha val="5000"/>
            </a:srgbClr>
          </a:solidFill>
          <a:ln w="3175">
            <a:solidFill>
              <a:srgbClr val="D4AF37">
                <a:alpha val="10000"/>
              </a:srgbClr>
            </a:solidFill>
            <a:prstDash val="solid"/>
          </a:ln>
        </p:spPr>
      </p:sp>
      <p:sp>
        <p:nvSpPr>
          <p:cNvPr id="8" name="Shape 6"/>
          <p:cNvSpPr/>
          <p:nvPr/>
        </p:nvSpPr>
        <p:spPr>
          <a:xfrm>
            <a:off x="914400" y="4937760"/>
            <a:ext cx="914400" cy="914400"/>
          </a:xfrm>
          <a:prstGeom prst="rect">
            <a:avLst/>
          </a:prstGeom>
          <a:solidFill>
            <a:srgbClr val="D4AF37">
              <a:alpha val="5000"/>
            </a:srgbClr>
          </a:solidFill>
          <a:ln w="3175">
            <a:solidFill>
              <a:srgbClr val="D4AF37">
                <a:alpha val="10000"/>
              </a:srgbClr>
            </a:solidFill>
            <a:prstDash val="solid"/>
          </a:ln>
        </p:spPr>
      </p:sp>
      <p:sp>
        <p:nvSpPr>
          <p:cNvPr id="9" name="Shape 7"/>
          <p:cNvSpPr/>
          <p:nvPr/>
        </p:nvSpPr>
        <p:spPr>
          <a:xfrm>
            <a:off x="914400" y="6766560"/>
            <a:ext cx="914400" cy="914400"/>
          </a:xfrm>
          <a:prstGeom prst="rect">
            <a:avLst/>
          </a:prstGeom>
          <a:solidFill>
            <a:srgbClr val="D4AF37">
              <a:alpha val="5000"/>
            </a:srgbClr>
          </a:solidFill>
          <a:ln w="3175">
            <a:solidFill>
              <a:srgbClr val="D4AF37">
                <a:alpha val="10000"/>
              </a:srgbClr>
            </a:solidFill>
            <a:prstDash val="solid"/>
          </a:ln>
        </p:spPr>
      </p:sp>
      <p:sp>
        <p:nvSpPr>
          <p:cNvPr id="10" name="Shape 8"/>
          <p:cNvSpPr/>
          <p:nvPr/>
        </p:nvSpPr>
        <p:spPr>
          <a:xfrm>
            <a:off x="914400" y="8595360"/>
            <a:ext cx="914400" cy="914400"/>
          </a:xfrm>
          <a:prstGeom prst="rect">
            <a:avLst/>
          </a:prstGeom>
          <a:solidFill>
            <a:srgbClr val="D4AF37">
              <a:alpha val="5000"/>
            </a:srgbClr>
          </a:solidFill>
          <a:ln w="3175">
            <a:solidFill>
              <a:srgbClr val="D4AF37">
                <a:alpha val="10000"/>
              </a:srgbClr>
            </a:solidFill>
            <a:prstDash val="solid"/>
          </a:ln>
        </p:spPr>
      </p:sp>
      <p:sp>
        <p:nvSpPr>
          <p:cNvPr id="11" name="Shape 9"/>
          <p:cNvSpPr/>
          <p:nvPr/>
        </p:nvSpPr>
        <p:spPr>
          <a:xfrm>
            <a:off x="914400" y="10424160"/>
            <a:ext cx="914400" cy="914400"/>
          </a:xfrm>
          <a:prstGeom prst="rect">
            <a:avLst/>
          </a:prstGeom>
          <a:solidFill>
            <a:srgbClr val="D4AF37">
              <a:alpha val="5000"/>
            </a:srgbClr>
          </a:solidFill>
          <a:ln w="3175">
            <a:solidFill>
              <a:srgbClr val="D4AF37">
                <a:alpha val="10000"/>
              </a:srgbClr>
            </a:solidFill>
            <a:prstDash val="solid"/>
          </a:ln>
        </p:spPr>
      </p:sp>
      <p:sp>
        <p:nvSpPr>
          <p:cNvPr id="12" name="Shape 10"/>
          <p:cNvSpPr/>
          <p:nvPr/>
        </p:nvSpPr>
        <p:spPr>
          <a:xfrm>
            <a:off x="1828800" y="2194560"/>
            <a:ext cx="914400" cy="914400"/>
          </a:xfrm>
          <a:prstGeom prst="rect">
            <a:avLst/>
          </a:prstGeom>
          <a:solidFill>
            <a:srgbClr val="D4AF37">
              <a:alpha val="5000"/>
            </a:srgbClr>
          </a:solidFill>
          <a:ln w="3175">
            <a:solidFill>
              <a:srgbClr val="D4AF37">
                <a:alpha val="10000"/>
              </a:srgbClr>
            </a:solidFill>
            <a:prstDash val="solid"/>
          </a:ln>
        </p:spPr>
      </p:sp>
      <p:sp>
        <p:nvSpPr>
          <p:cNvPr id="13" name="Shape 11"/>
          <p:cNvSpPr/>
          <p:nvPr/>
        </p:nvSpPr>
        <p:spPr>
          <a:xfrm>
            <a:off x="1828800" y="4023360"/>
            <a:ext cx="914400" cy="914400"/>
          </a:xfrm>
          <a:prstGeom prst="rect">
            <a:avLst/>
          </a:prstGeom>
          <a:solidFill>
            <a:srgbClr val="D4AF37">
              <a:alpha val="5000"/>
            </a:srgbClr>
          </a:solidFill>
          <a:ln w="3175">
            <a:solidFill>
              <a:srgbClr val="D4AF37">
                <a:alpha val="10000"/>
              </a:srgbClr>
            </a:solidFill>
            <a:prstDash val="solid"/>
          </a:ln>
        </p:spPr>
      </p:sp>
      <p:sp>
        <p:nvSpPr>
          <p:cNvPr id="14" name="Shape 12"/>
          <p:cNvSpPr/>
          <p:nvPr/>
        </p:nvSpPr>
        <p:spPr>
          <a:xfrm>
            <a:off x="1828800" y="5852160"/>
            <a:ext cx="914400" cy="914400"/>
          </a:xfrm>
          <a:prstGeom prst="rect">
            <a:avLst/>
          </a:prstGeom>
          <a:solidFill>
            <a:srgbClr val="D4AF37">
              <a:alpha val="5000"/>
            </a:srgbClr>
          </a:solidFill>
          <a:ln w="3175">
            <a:solidFill>
              <a:srgbClr val="D4AF37">
                <a:alpha val="10000"/>
              </a:srgbClr>
            </a:solidFill>
            <a:prstDash val="solid"/>
          </a:ln>
        </p:spPr>
      </p:sp>
      <p:sp>
        <p:nvSpPr>
          <p:cNvPr id="15" name="Shape 13"/>
          <p:cNvSpPr/>
          <p:nvPr/>
        </p:nvSpPr>
        <p:spPr>
          <a:xfrm>
            <a:off x="1828800" y="7680960"/>
            <a:ext cx="914400" cy="914400"/>
          </a:xfrm>
          <a:prstGeom prst="rect">
            <a:avLst/>
          </a:prstGeom>
          <a:solidFill>
            <a:srgbClr val="D4AF37">
              <a:alpha val="5000"/>
            </a:srgbClr>
          </a:solidFill>
          <a:ln w="3175">
            <a:solidFill>
              <a:srgbClr val="D4AF37">
                <a:alpha val="10000"/>
              </a:srgbClr>
            </a:solidFill>
            <a:prstDash val="solid"/>
          </a:ln>
        </p:spPr>
      </p:sp>
      <p:sp>
        <p:nvSpPr>
          <p:cNvPr id="16" name="Shape 14"/>
          <p:cNvSpPr/>
          <p:nvPr/>
        </p:nvSpPr>
        <p:spPr>
          <a:xfrm>
            <a:off x="1828800" y="9509760"/>
            <a:ext cx="914400" cy="914400"/>
          </a:xfrm>
          <a:prstGeom prst="rect">
            <a:avLst/>
          </a:prstGeom>
          <a:solidFill>
            <a:srgbClr val="D4AF37">
              <a:alpha val="5000"/>
            </a:srgbClr>
          </a:solidFill>
          <a:ln w="3175">
            <a:solidFill>
              <a:srgbClr val="D4AF37">
                <a:alpha val="10000"/>
              </a:srgbClr>
            </a:solidFill>
            <a:prstDash val="solid"/>
          </a:ln>
        </p:spPr>
      </p:sp>
      <p:sp>
        <p:nvSpPr>
          <p:cNvPr id="17" name="Shape 15"/>
          <p:cNvSpPr/>
          <p:nvPr/>
        </p:nvSpPr>
        <p:spPr>
          <a:xfrm>
            <a:off x="2743200" y="3108960"/>
            <a:ext cx="914400" cy="914400"/>
          </a:xfrm>
          <a:prstGeom prst="rect">
            <a:avLst/>
          </a:prstGeom>
          <a:solidFill>
            <a:srgbClr val="D4AF37">
              <a:alpha val="5000"/>
            </a:srgbClr>
          </a:solidFill>
          <a:ln w="3175">
            <a:solidFill>
              <a:srgbClr val="D4AF37">
                <a:alpha val="10000"/>
              </a:srgbClr>
            </a:solidFill>
            <a:prstDash val="solid"/>
          </a:ln>
        </p:spPr>
      </p:sp>
      <p:sp>
        <p:nvSpPr>
          <p:cNvPr id="18" name="Shape 16"/>
          <p:cNvSpPr/>
          <p:nvPr/>
        </p:nvSpPr>
        <p:spPr>
          <a:xfrm>
            <a:off x="2743200" y="4937760"/>
            <a:ext cx="914400" cy="914400"/>
          </a:xfrm>
          <a:prstGeom prst="rect">
            <a:avLst/>
          </a:prstGeom>
          <a:solidFill>
            <a:srgbClr val="D4AF37">
              <a:alpha val="5000"/>
            </a:srgbClr>
          </a:solidFill>
          <a:ln w="3175">
            <a:solidFill>
              <a:srgbClr val="D4AF37">
                <a:alpha val="10000"/>
              </a:srgbClr>
            </a:solidFill>
            <a:prstDash val="solid"/>
          </a:ln>
        </p:spPr>
      </p:sp>
      <p:sp>
        <p:nvSpPr>
          <p:cNvPr id="19" name="Shape 17"/>
          <p:cNvSpPr/>
          <p:nvPr/>
        </p:nvSpPr>
        <p:spPr>
          <a:xfrm>
            <a:off x="2743200" y="6766560"/>
            <a:ext cx="914400" cy="914400"/>
          </a:xfrm>
          <a:prstGeom prst="rect">
            <a:avLst/>
          </a:prstGeom>
          <a:solidFill>
            <a:srgbClr val="D4AF37">
              <a:alpha val="5000"/>
            </a:srgbClr>
          </a:solidFill>
          <a:ln w="3175">
            <a:solidFill>
              <a:srgbClr val="D4AF37">
                <a:alpha val="10000"/>
              </a:srgbClr>
            </a:solidFill>
            <a:prstDash val="solid"/>
          </a:ln>
        </p:spPr>
      </p:sp>
      <p:sp>
        <p:nvSpPr>
          <p:cNvPr id="20" name="Shape 18"/>
          <p:cNvSpPr/>
          <p:nvPr/>
        </p:nvSpPr>
        <p:spPr>
          <a:xfrm>
            <a:off x="2743200" y="8595360"/>
            <a:ext cx="914400" cy="914400"/>
          </a:xfrm>
          <a:prstGeom prst="rect">
            <a:avLst/>
          </a:prstGeom>
          <a:solidFill>
            <a:srgbClr val="D4AF37">
              <a:alpha val="5000"/>
            </a:srgbClr>
          </a:solidFill>
          <a:ln w="3175">
            <a:solidFill>
              <a:srgbClr val="D4AF37">
                <a:alpha val="10000"/>
              </a:srgbClr>
            </a:solidFill>
            <a:prstDash val="solid"/>
          </a:ln>
        </p:spPr>
      </p:sp>
      <p:sp>
        <p:nvSpPr>
          <p:cNvPr id="21" name="Shape 19"/>
          <p:cNvSpPr/>
          <p:nvPr/>
        </p:nvSpPr>
        <p:spPr>
          <a:xfrm>
            <a:off x="2743200" y="10424160"/>
            <a:ext cx="914400" cy="914400"/>
          </a:xfrm>
          <a:prstGeom prst="rect">
            <a:avLst/>
          </a:prstGeom>
          <a:solidFill>
            <a:srgbClr val="D4AF37">
              <a:alpha val="5000"/>
            </a:srgbClr>
          </a:solidFill>
          <a:ln w="3175">
            <a:solidFill>
              <a:srgbClr val="D4AF37">
                <a:alpha val="10000"/>
              </a:srgbClr>
            </a:solidFill>
            <a:prstDash val="solid"/>
          </a:ln>
        </p:spPr>
      </p:sp>
      <p:sp>
        <p:nvSpPr>
          <p:cNvPr id="22" name="Shape 20"/>
          <p:cNvSpPr/>
          <p:nvPr/>
        </p:nvSpPr>
        <p:spPr>
          <a:xfrm>
            <a:off x="3657600" y="2194560"/>
            <a:ext cx="914400" cy="914400"/>
          </a:xfrm>
          <a:prstGeom prst="rect">
            <a:avLst/>
          </a:prstGeom>
          <a:solidFill>
            <a:srgbClr val="D4AF37">
              <a:alpha val="5000"/>
            </a:srgbClr>
          </a:solidFill>
          <a:ln w="3175">
            <a:solidFill>
              <a:srgbClr val="D4AF37">
                <a:alpha val="10000"/>
              </a:srgbClr>
            </a:solidFill>
            <a:prstDash val="solid"/>
          </a:ln>
        </p:spPr>
      </p:sp>
      <p:sp>
        <p:nvSpPr>
          <p:cNvPr id="23" name="Shape 21"/>
          <p:cNvSpPr/>
          <p:nvPr/>
        </p:nvSpPr>
        <p:spPr>
          <a:xfrm>
            <a:off x="3657600" y="4023360"/>
            <a:ext cx="914400" cy="914400"/>
          </a:xfrm>
          <a:prstGeom prst="rect">
            <a:avLst/>
          </a:prstGeom>
          <a:solidFill>
            <a:srgbClr val="D4AF37">
              <a:alpha val="5000"/>
            </a:srgbClr>
          </a:solidFill>
          <a:ln w="3175">
            <a:solidFill>
              <a:srgbClr val="D4AF37">
                <a:alpha val="10000"/>
              </a:srgbClr>
            </a:solidFill>
            <a:prstDash val="solid"/>
          </a:ln>
        </p:spPr>
      </p:sp>
      <p:sp>
        <p:nvSpPr>
          <p:cNvPr id="24" name="Shape 22"/>
          <p:cNvSpPr/>
          <p:nvPr/>
        </p:nvSpPr>
        <p:spPr>
          <a:xfrm>
            <a:off x="3657600" y="5852160"/>
            <a:ext cx="914400" cy="914400"/>
          </a:xfrm>
          <a:prstGeom prst="rect">
            <a:avLst/>
          </a:prstGeom>
          <a:solidFill>
            <a:srgbClr val="D4AF37">
              <a:alpha val="5000"/>
            </a:srgbClr>
          </a:solidFill>
          <a:ln w="3175">
            <a:solidFill>
              <a:srgbClr val="D4AF37">
                <a:alpha val="10000"/>
              </a:srgbClr>
            </a:solidFill>
            <a:prstDash val="solid"/>
          </a:ln>
        </p:spPr>
      </p:sp>
      <p:sp>
        <p:nvSpPr>
          <p:cNvPr id="25" name="Shape 23"/>
          <p:cNvSpPr/>
          <p:nvPr/>
        </p:nvSpPr>
        <p:spPr>
          <a:xfrm>
            <a:off x="3657600" y="7680960"/>
            <a:ext cx="914400" cy="914400"/>
          </a:xfrm>
          <a:prstGeom prst="rect">
            <a:avLst/>
          </a:prstGeom>
          <a:solidFill>
            <a:srgbClr val="D4AF37">
              <a:alpha val="5000"/>
            </a:srgbClr>
          </a:solidFill>
          <a:ln w="3175">
            <a:solidFill>
              <a:srgbClr val="D4AF37">
                <a:alpha val="10000"/>
              </a:srgbClr>
            </a:solidFill>
            <a:prstDash val="solid"/>
          </a:ln>
        </p:spPr>
      </p:sp>
      <p:sp>
        <p:nvSpPr>
          <p:cNvPr id="26" name="Shape 24"/>
          <p:cNvSpPr/>
          <p:nvPr/>
        </p:nvSpPr>
        <p:spPr>
          <a:xfrm>
            <a:off x="3657600" y="9509760"/>
            <a:ext cx="914400" cy="914400"/>
          </a:xfrm>
          <a:prstGeom prst="rect">
            <a:avLst/>
          </a:prstGeom>
          <a:solidFill>
            <a:srgbClr val="D4AF37">
              <a:alpha val="5000"/>
            </a:srgbClr>
          </a:solidFill>
          <a:ln w="3175">
            <a:solidFill>
              <a:srgbClr val="D4AF37">
                <a:alpha val="10000"/>
              </a:srgbClr>
            </a:solidFill>
            <a:prstDash val="solid"/>
          </a:ln>
        </p:spPr>
      </p:sp>
      <p:sp>
        <p:nvSpPr>
          <p:cNvPr id="27" name="Shape 25"/>
          <p:cNvSpPr/>
          <p:nvPr/>
        </p:nvSpPr>
        <p:spPr>
          <a:xfrm>
            <a:off x="4572000" y="3108960"/>
            <a:ext cx="914400" cy="914400"/>
          </a:xfrm>
          <a:prstGeom prst="rect">
            <a:avLst/>
          </a:prstGeom>
          <a:solidFill>
            <a:srgbClr val="D4AF37">
              <a:alpha val="5000"/>
            </a:srgbClr>
          </a:solidFill>
          <a:ln w="3175">
            <a:solidFill>
              <a:srgbClr val="D4AF37">
                <a:alpha val="10000"/>
              </a:srgbClr>
            </a:solidFill>
            <a:prstDash val="solid"/>
          </a:ln>
        </p:spPr>
      </p:sp>
      <p:sp>
        <p:nvSpPr>
          <p:cNvPr id="28" name="Shape 26"/>
          <p:cNvSpPr/>
          <p:nvPr/>
        </p:nvSpPr>
        <p:spPr>
          <a:xfrm>
            <a:off x="4572000" y="4937760"/>
            <a:ext cx="914400" cy="914400"/>
          </a:xfrm>
          <a:prstGeom prst="rect">
            <a:avLst/>
          </a:prstGeom>
          <a:solidFill>
            <a:srgbClr val="D4AF37">
              <a:alpha val="5000"/>
            </a:srgbClr>
          </a:solidFill>
          <a:ln w="3175">
            <a:solidFill>
              <a:srgbClr val="D4AF37">
                <a:alpha val="10000"/>
              </a:srgbClr>
            </a:solidFill>
            <a:prstDash val="solid"/>
          </a:ln>
        </p:spPr>
      </p:sp>
      <p:sp>
        <p:nvSpPr>
          <p:cNvPr id="29" name="Shape 27"/>
          <p:cNvSpPr/>
          <p:nvPr/>
        </p:nvSpPr>
        <p:spPr>
          <a:xfrm>
            <a:off x="4572000" y="6766560"/>
            <a:ext cx="914400" cy="914400"/>
          </a:xfrm>
          <a:prstGeom prst="rect">
            <a:avLst/>
          </a:prstGeom>
          <a:solidFill>
            <a:srgbClr val="D4AF37">
              <a:alpha val="5000"/>
            </a:srgbClr>
          </a:solidFill>
          <a:ln w="3175">
            <a:solidFill>
              <a:srgbClr val="D4AF37">
                <a:alpha val="10000"/>
              </a:srgbClr>
            </a:solidFill>
            <a:prstDash val="solid"/>
          </a:ln>
        </p:spPr>
      </p:sp>
      <p:sp>
        <p:nvSpPr>
          <p:cNvPr id="30" name="Shape 28"/>
          <p:cNvSpPr/>
          <p:nvPr/>
        </p:nvSpPr>
        <p:spPr>
          <a:xfrm>
            <a:off x="4572000" y="8595360"/>
            <a:ext cx="914400" cy="914400"/>
          </a:xfrm>
          <a:prstGeom prst="rect">
            <a:avLst/>
          </a:prstGeom>
          <a:solidFill>
            <a:srgbClr val="D4AF37">
              <a:alpha val="5000"/>
            </a:srgbClr>
          </a:solidFill>
          <a:ln w="3175">
            <a:solidFill>
              <a:srgbClr val="D4AF37">
                <a:alpha val="10000"/>
              </a:srgbClr>
            </a:solidFill>
            <a:prstDash val="solid"/>
          </a:ln>
        </p:spPr>
      </p:sp>
      <p:sp>
        <p:nvSpPr>
          <p:cNvPr id="31" name="Shape 29"/>
          <p:cNvSpPr/>
          <p:nvPr/>
        </p:nvSpPr>
        <p:spPr>
          <a:xfrm>
            <a:off x="4572000" y="10424160"/>
            <a:ext cx="914400" cy="914400"/>
          </a:xfrm>
          <a:prstGeom prst="rect">
            <a:avLst/>
          </a:prstGeom>
          <a:solidFill>
            <a:srgbClr val="D4AF37">
              <a:alpha val="5000"/>
            </a:srgbClr>
          </a:solidFill>
          <a:ln w="3175">
            <a:solidFill>
              <a:srgbClr val="D4AF37">
                <a:alpha val="10000"/>
              </a:srgbClr>
            </a:solidFill>
            <a:prstDash val="solid"/>
          </a:ln>
        </p:spPr>
      </p:sp>
      <p:sp>
        <p:nvSpPr>
          <p:cNvPr id="32" name="Shape 30"/>
          <p:cNvSpPr/>
          <p:nvPr/>
        </p:nvSpPr>
        <p:spPr>
          <a:xfrm>
            <a:off x="5486400" y="2194560"/>
            <a:ext cx="914400" cy="914400"/>
          </a:xfrm>
          <a:prstGeom prst="rect">
            <a:avLst/>
          </a:prstGeom>
          <a:solidFill>
            <a:srgbClr val="D4AF37">
              <a:alpha val="5000"/>
            </a:srgbClr>
          </a:solidFill>
          <a:ln w="3175">
            <a:solidFill>
              <a:srgbClr val="D4AF37">
                <a:alpha val="10000"/>
              </a:srgbClr>
            </a:solidFill>
            <a:prstDash val="solid"/>
          </a:ln>
        </p:spPr>
      </p:sp>
      <p:sp>
        <p:nvSpPr>
          <p:cNvPr id="33" name="Shape 31"/>
          <p:cNvSpPr/>
          <p:nvPr/>
        </p:nvSpPr>
        <p:spPr>
          <a:xfrm>
            <a:off x="5486400" y="4023360"/>
            <a:ext cx="914400" cy="914400"/>
          </a:xfrm>
          <a:prstGeom prst="rect">
            <a:avLst/>
          </a:prstGeom>
          <a:solidFill>
            <a:srgbClr val="D4AF37">
              <a:alpha val="5000"/>
            </a:srgbClr>
          </a:solidFill>
          <a:ln w="3175">
            <a:solidFill>
              <a:srgbClr val="D4AF37">
                <a:alpha val="10000"/>
              </a:srgbClr>
            </a:solidFill>
            <a:prstDash val="solid"/>
          </a:ln>
        </p:spPr>
      </p:sp>
      <p:sp>
        <p:nvSpPr>
          <p:cNvPr id="34" name="Shape 32"/>
          <p:cNvSpPr/>
          <p:nvPr/>
        </p:nvSpPr>
        <p:spPr>
          <a:xfrm>
            <a:off x="5486400" y="5852160"/>
            <a:ext cx="914400" cy="914400"/>
          </a:xfrm>
          <a:prstGeom prst="rect">
            <a:avLst/>
          </a:prstGeom>
          <a:solidFill>
            <a:srgbClr val="D4AF37">
              <a:alpha val="5000"/>
            </a:srgbClr>
          </a:solidFill>
          <a:ln w="3175">
            <a:solidFill>
              <a:srgbClr val="D4AF37">
                <a:alpha val="10000"/>
              </a:srgbClr>
            </a:solidFill>
            <a:prstDash val="solid"/>
          </a:ln>
        </p:spPr>
      </p:sp>
      <p:sp>
        <p:nvSpPr>
          <p:cNvPr id="35" name="Shape 33"/>
          <p:cNvSpPr/>
          <p:nvPr/>
        </p:nvSpPr>
        <p:spPr>
          <a:xfrm>
            <a:off x="5486400" y="7680960"/>
            <a:ext cx="914400" cy="914400"/>
          </a:xfrm>
          <a:prstGeom prst="rect">
            <a:avLst/>
          </a:prstGeom>
          <a:solidFill>
            <a:srgbClr val="D4AF37">
              <a:alpha val="5000"/>
            </a:srgbClr>
          </a:solidFill>
          <a:ln w="3175">
            <a:solidFill>
              <a:srgbClr val="D4AF37">
                <a:alpha val="10000"/>
              </a:srgbClr>
            </a:solidFill>
            <a:prstDash val="solid"/>
          </a:ln>
        </p:spPr>
      </p:sp>
      <p:sp>
        <p:nvSpPr>
          <p:cNvPr id="36" name="Shape 34"/>
          <p:cNvSpPr/>
          <p:nvPr/>
        </p:nvSpPr>
        <p:spPr>
          <a:xfrm>
            <a:off x="5486400" y="9509760"/>
            <a:ext cx="914400" cy="914400"/>
          </a:xfrm>
          <a:prstGeom prst="rect">
            <a:avLst/>
          </a:prstGeom>
          <a:solidFill>
            <a:srgbClr val="D4AF37">
              <a:alpha val="5000"/>
            </a:srgbClr>
          </a:solidFill>
          <a:ln w="3175">
            <a:solidFill>
              <a:srgbClr val="D4AF37">
                <a:alpha val="10000"/>
              </a:srgbClr>
            </a:solidFill>
            <a:prstDash val="solid"/>
          </a:ln>
        </p:spPr>
      </p:sp>
      <p:sp>
        <p:nvSpPr>
          <p:cNvPr id="37" name="Shape 35"/>
          <p:cNvSpPr/>
          <p:nvPr/>
        </p:nvSpPr>
        <p:spPr>
          <a:xfrm>
            <a:off x="6400800" y="3108960"/>
            <a:ext cx="914400" cy="914400"/>
          </a:xfrm>
          <a:prstGeom prst="rect">
            <a:avLst/>
          </a:prstGeom>
          <a:solidFill>
            <a:srgbClr val="D4AF37">
              <a:alpha val="5000"/>
            </a:srgbClr>
          </a:solidFill>
          <a:ln w="3175">
            <a:solidFill>
              <a:srgbClr val="D4AF37">
                <a:alpha val="10000"/>
              </a:srgbClr>
            </a:solidFill>
            <a:prstDash val="solid"/>
          </a:ln>
        </p:spPr>
      </p:sp>
      <p:sp>
        <p:nvSpPr>
          <p:cNvPr id="38" name="Shape 36"/>
          <p:cNvSpPr/>
          <p:nvPr/>
        </p:nvSpPr>
        <p:spPr>
          <a:xfrm>
            <a:off x="6400800" y="4937760"/>
            <a:ext cx="914400" cy="914400"/>
          </a:xfrm>
          <a:prstGeom prst="rect">
            <a:avLst/>
          </a:prstGeom>
          <a:solidFill>
            <a:srgbClr val="D4AF37">
              <a:alpha val="5000"/>
            </a:srgbClr>
          </a:solidFill>
          <a:ln w="3175">
            <a:solidFill>
              <a:srgbClr val="D4AF37">
                <a:alpha val="10000"/>
              </a:srgbClr>
            </a:solidFill>
            <a:prstDash val="solid"/>
          </a:ln>
        </p:spPr>
      </p:sp>
      <p:sp>
        <p:nvSpPr>
          <p:cNvPr id="39" name="Shape 37"/>
          <p:cNvSpPr/>
          <p:nvPr/>
        </p:nvSpPr>
        <p:spPr>
          <a:xfrm>
            <a:off x="6400800" y="6766560"/>
            <a:ext cx="914400" cy="914400"/>
          </a:xfrm>
          <a:prstGeom prst="rect">
            <a:avLst/>
          </a:prstGeom>
          <a:solidFill>
            <a:srgbClr val="D4AF37">
              <a:alpha val="5000"/>
            </a:srgbClr>
          </a:solidFill>
          <a:ln w="3175">
            <a:solidFill>
              <a:srgbClr val="D4AF37">
                <a:alpha val="10000"/>
              </a:srgbClr>
            </a:solidFill>
            <a:prstDash val="solid"/>
          </a:ln>
        </p:spPr>
      </p:sp>
      <p:sp>
        <p:nvSpPr>
          <p:cNvPr id="40" name="Shape 38"/>
          <p:cNvSpPr/>
          <p:nvPr/>
        </p:nvSpPr>
        <p:spPr>
          <a:xfrm>
            <a:off x="6400800" y="8595360"/>
            <a:ext cx="914400" cy="914400"/>
          </a:xfrm>
          <a:prstGeom prst="rect">
            <a:avLst/>
          </a:prstGeom>
          <a:solidFill>
            <a:srgbClr val="D4AF37">
              <a:alpha val="5000"/>
            </a:srgbClr>
          </a:solidFill>
          <a:ln w="3175">
            <a:solidFill>
              <a:srgbClr val="D4AF37">
                <a:alpha val="10000"/>
              </a:srgbClr>
            </a:solidFill>
            <a:prstDash val="solid"/>
          </a:ln>
        </p:spPr>
      </p:sp>
      <p:sp>
        <p:nvSpPr>
          <p:cNvPr id="41" name="Shape 39"/>
          <p:cNvSpPr/>
          <p:nvPr/>
        </p:nvSpPr>
        <p:spPr>
          <a:xfrm>
            <a:off x="6400800" y="10424160"/>
            <a:ext cx="914400" cy="914400"/>
          </a:xfrm>
          <a:prstGeom prst="rect">
            <a:avLst/>
          </a:prstGeom>
          <a:solidFill>
            <a:srgbClr val="D4AF37">
              <a:alpha val="5000"/>
            </a:srgbClr>
          </a:solidFill>
          <a:ln w="3175">
            <a:solidFill>
              <a:srgbClr val="D4AF37">
                <a:alpha val="10000"/>
              </a:srgbClr>
            </a:solidFill>
            <a:prstDash val="solid"/>
          </a:ln>
        </p:spPr>
      </p:sp>
      <p:sp>
        <p:nvSpPr>
          <p:cNvPr id="42" name="Shape 40"/>
          <p:cNvSpPr/>
          <p:nvPr/>
        </p:nvSpPr>
        <p:spPr>
          <a:xfrm>
            <a:off x="7315200" y="2194560"/>
            <a:ext cx="914400" cy="914400"/>
          </a:xfrm>
          <a:prstGeom prst="rect">
            <a:avLst/>
          </a:prstGeom>
          <a:solidFill>
            <a:srgbClr val="D4AF37">
              <a:alpha val="5000"/>
            </a:srgbClr>
          </a:solidFill>
          <a:ln w="3175">
            <a:solidFill>
              <a:srgbClr val="D4AF37">
                <a:alpha val="10000"/>
              </a:srgbClr>
            </a:solidFill>
            <a:prstDash val="solid"/>
          </a:ln>
        </p:spPr>
      </p:sp>
      <p:sp>
        <p:nvSpPr>
          <p:cNvPr id="43" name="Shape 41"/>
          <p:cNvSpPr/>
          <p:nvPr/>
        </p:nvSpPr>
        <p:spPr>
          <a:xfrm>
            <a:off x="7315200" y="4023360"/>
            <a:ext cx="914400" cy="914400"/>
          </a:xfrm>
          <a:prstGeom prst="rect">
            <a:avLst/>
          </a:prstGeom>
          <a:solidFill>
            <a:srgbClr val="D4AF37">
              <a:alpha val="5000"/>
            </a:srgbClr>
          </a:solidFill>
          <a:ln w="3175">
            <a:solidFill>
              <a:srgbClr val="D4AF37">
                <a:alpha val="10000"/>
              </a:srgbClr>
            </a:solidFill>
            <a:prstDash val="solid"/>
          </a:ln>
        </p:spPr>
      </p:sp>
      <p:sp>
        <p:nvSpPr>
          <p:cNvPr id="44" name="Shape 42"/>
          <p:cNvSpPr/>
          <p:nvPr/>
        </p:nvSpPr>
        <p:spPr>
          <a:xfrm>
            <a:off x="7315200" y="5852160"/>
            <a:ext cx="914400" cy="914400"/>
          </a:xfrm>
          <a:prstGeom prst="rect">
            <a:avLst/>
          </a:prstGeom>
          <a:solidFill>
            <a:srgbClr val="D4AF37">
              <a:alpha val="5000"/>
            </a:srgbClr>
          </a:solidFill>
          <a:ln w="3175">
            <a:solidFill>
              <a:srgbClr val="D4AF37">
                <a:alpha val="10000"/>
              </a:srgbClr>
            </a:solidFill>
            <a:prstDash val="solid"/>
          </a:ln>
        </p:spPr>
      </p:sp>
      <p:sp>
        <p:nvSpPr>
          <p:cNvPr id="45" name="Shape 43"/>
          <p:cNvSpPr/>
          <p:nvPr/>
        </p:nvSpPr>
        <p:spPr>
          <a:xfrm>
            <a:off x="7315200" y="7680960"/>
            <a:ext cx="914400" cy="914400"/>
          </a:xfrm>
          <a:prstGeom prst="rect">
            <a:avLst/>
          </a:prstGeom>
          <a:solidFill>
            <a:srgbClr val="D4AF37">
              <a:alpha val="5000"/>
            </a:srgbClr>
          </a:solidFill>
          <a:ln w="3175">
            <a:solidFill>
              <a:srgbClr val="D4AF37">
                <a:alpha val="10000"/>
              </a:srgbClr>
            </a:solidFill>
            <a:prstDash val="solid"/>
          </a:ln>
        </p:spPr>
      </p:sp>
      <p:sp>
        <p:nvSpPr>
          <p:cNvPr id="46" name="Shape 44"/>
          <p:cNvSpPr/>
          <p:nvPr/>
        </p:nvSpPr>
        <p:spPr>
          <a:xfrm>
            <a:off x="7315200" y="9509760"/>
            <a:ext cx="914400" cy="914400"/>
          </a:xfrm>
          <a:prstGeom prst="rect">
            <a:avLst/>
          </a:prstGeom>
          <a:solidFill>
            <a:srgbClr val="D4AF37">
              <a:alpha val="5000"/>
            </a:srgbClr>
          </a:solidFill>
          <a:ln w="3175">
            <a:solidFill>
              <a:srgbClr val="D4AF37">
                <a:alpha val="10000"/>
              </a:srgbClr>
            </a:solidFill>
            <a:prstDash val="solid"/>
          </a:ln>
        </p:spPr>
      </p:sp>
      <p:sp>
        <p:nvSpPr>
          <p:cNvPr id="47" name="Shape 45"/>
          <p:cNvSpPr/>
          <p:nvPr/>
        </p:nvSpPr>
        <p:spPr>
          <a:xfrm>
            <a:off x="8229600" y="3108960"/>
            <a:ext cx="914400" cy="914400"/>
          </a:xfrm>
          <a:prstGeom prst="rect">
            <a:avLst/>
          </a:prstGeom>
          <a:solidFill>
            <a:srgbClr val="D4AF37">
              <a:alpha val="5000"/>
            </a:srgbClr>
          </a:solidFill>
          <a:ln w="3175">
            <a:solidFill>
              <a:srgbClr val="D4AF37">
                <a:alpha val="10000"/>
              </a:srgbClr>
            </a:solidFill>
            <a:prstDash val="solid"/>
          </a:ln>
        </p:spPr>
      </p:sp>
      <p:sp>
        <p:nvSpPr>
          <p:cNvPr id="48" name="Shape 46"/>
          <p:cNvSpPr/>
          <p:nvPr/>
        </p:nvSpPr>
        <p:spPr>
          <a:xfrm>
            <a:off x="8229600" y="4937760"/>
            <a:ext cx="914400" cy="914400"/>
          </a:xfrm>
          <a:prstGeom prst="rect">
            <a:avLst/>
          </a:prstGeom>
          <a:solidFill>
            <a:srgbClr val="D4AF37">
              <a:alpha val="5000"/>
            </a:srgbClr>
          </a:solidFill>
          <a:ln w="3175">
            <a:solidFill>
              <a:srgbClr val="D4AF37">
                <a:alpha val="10000"/>
              </a:srgbClr>
            </a:solidFill>
            <a:prstDash val="solid"/>
          </a:ln>
        </p:spPr>
      </p:sp>
      <p:sp>
        <p:nvSpPr>
          <p:cNvPr id="49" name="Shape 47"/>
          <p:cNvSpPr/>
          <p:nvPr/>
        </p:nvSpPr>
        <p:spPr>
          <a:xfrm>
            <a:off x="8229600" y="6766560"/>
            <a:ext cx="914400" cy="914400"/>
          </a:xfrm>
          <a:prstGeom prst="rect">
            <a:avLst/>
          </a:prstGeom>
          <a:solidFill>
            <a:srgbClr val="D4AF37">
              <a:alpha val="5000"/>
            </a:srgbClr>
          </a:solidFill>
          <a:ln w="3175">
            <a:solidFill>
              <a:srgbClr val="D4AF37">
                <a:alpha val="10000"/>
              </a:srgbClr>
            </a:solidFill>
            <a:prstDash val="solid"/>
          </a:ln>
        </p:spPr>
      </p:sp>
      <p:sp>
        <p:nvSpPr>
          <p:cNvPr id="50" name="Shape 48"/>
          <p:cNvSpPr/>
          <p:nvPr/>
        </p:nvSpPr>
        <p:spPr>
          <a:xfrm>
            <a:off x="8229600" y="8595360"/>
            <a:ext cx="914400" cy="914400"/>
          </a:xfrm>
          <a:prstGeom prst="rect">
            <a:avLst/>
          </a:prstGeom>
          <a:solidFill>
            <a:srgbClr val="D4AF37">
              <a:alpha val="5000"/>
            </a:srgbClr>
          </a:solidFill>
          <a:ln w="3175">
            <a:solidFill>
              <a:srgbClr val="D4AF37">
                <a:alpha val="10000"/>
              </a:srgbClr>
            </a:solidFill>
            <a:prstDash val="solid"/>
          </a:ln>
        </p:spPr>
      </p:sp>
      <p:sp>
        <p:nvSpPr>
          <p:cNvPr id="51" name="Shape 49"/>
          <p:cNvSpPr/>
          <p:nvPr/>
        </p:nvSpPr>
        <p:spPr>
          <a:xfrm>
            <a:off x="8229600" y="10424160"/>
            <a:ext cx="914400" cy="914400"/>
          </a:xfrm>
          <a:prstGeom prst="rect">
            <a:avLst/>
          </a:prstGeom>
          <a:solidFill>
            <a:srgbClr val="D4AF37">
              <a:alpha val="5000"/>
            </a:srgbClr>
          </a:solidFill>
          <a:ln w="3175">
            <a:solidFill>
              <a:srgbClr val="D4AF37">
                <a:alpha val="10000"/>
              </a:srgbClr>
            </a:solidFill>
            <a:prstDash val="solid"/>
          </a:ln>
        </p:spPr>
      </p:sp>
      <p:sp>
        <p:nvSpPr>
          <p:cNvPr id="69" name="Text 67"/>
          <p:cNvSpPr txBox="1"/>
          <p:nvPr/>
        </p:nvSpPr>
        <p:spPr>
          <a:xfrm>
            <a:off x="1117600" y="937260"/>
            <a:ext cx="9144000" cy="274320"/>
          </a:xfrm>
          <a:prstGeom prst="rect">
            <a:avLst/>
          </a:prstGeom>
          <a:noFill/>
          <a:ln/>
        </p:spPr>
        <p:txBody>
          <a:bodyPr wrap="square" lIns="0" tIns="0" rIns="0" bIns="0" rtlCol="0" anchor="ctr"/>
          <a:lstStyle/>
          <a:p>
            <a:pPr marL="0" indent="0" algn="ctr">
              <a:buNone/>
            </a:pPr>
            <a:r>
              <a:rPr lang="en-US" sz="4800" b="1" kern="0" spc="800" dirty="0">
                <a:solidFill>
                  <a:srgbClr val="D4AF37"/>
                </a:solidFill>
                <a:latin typeface="Poppins" pitchFamily="34" charset="0"/>
                <a:ea typeface="Poppins" pitchFamily="34" charset="-122"/>
                <a:cs typeface="Poppins" pitchFamily="34" charset="-120"/>
              </a:rPr>
              <a:t>THANK YOU</a:t>
            </a:r>
            <a:endParaRPr lang="en-US" sz="4800" dirty="0"/>
          </a:p>
        </p:txBody>
      </p:sp>
      <p:sp>
        <p:nvSpPr>
          <p:cNvPr id="70" name="Text 68"/>
          <p:cNvSpPr txBox="1"/>
          <p:nvPr/>
        </p:nvSpPr>
        <p:spPr>
          <a:xfrm>
            <a:off x="1117600" y="2331720"/>
            <a:ext cx="9144000" cy="731520"/>
          </a:xfrm>
          <a:prstGeom prst="rect">
            <a:avLst/>
          </a:prstGeom>
          <a:noFill/>
          <a:ln/>
        </p:spPr>
        <p:txBody>
          <a:bodyPr wrap="square" lIns="0" tIns="0" rIns="0" bIns="0" rtlCol="0" anchor="ctr"/>
          <a:lstStyle/>
          <a:p>
            <a:pPr marL="0" indent="0" algn="ctr">
              <a:buNone/>
            </a:pPr>
            <a:r>
              <a:rPr lang="en-US" sz="3600" b="1" kern="0" spc="300" dirty="0">
                <a:solidFill>
                  <a:srgbClr val="FFFFFF"/>
                </a:solidFill>
                <a:latin typeface="Poppins" pitchFamily="34" charset="0"/>
                <a:ea typeface="Poppins" pitchFamily="34" charset="-122"/>
                <a:cs typeface="Poppins" pitchFamily="34" charset="-120"/>
              </a:rPr>
              <a:t>CHESS EVOLVE</a:t>
            </a:r>
            <a:endParaRPr lang="en-US" sz="3600" dirty="0"/>
          </a:p>
        </p:txBody>
      </p:sp>
      <p:sp>
        <p:nvSpPr>
          <p:cNvPr id="71" name="Text 69"/>
          <p:cNvSpPr txBox="1"/>
          <p:nvPr/>
        </p:nvSpPr>
        <p:spPr>
          <a:xfrm>
            <a:off x="1007533" y="3154680"/>
            <a:ext cx="9144000" cy="365760"/>
          </a:xfrm>
          <a:prstGeom prst="rect">
            <a:avLst/>
          </a:prstGeom>
          <a:noFill/>
          <a:ln/>
        </p:spPr>
        <p:txBody>
          <a:bodyPr wrap="square" lIns="0" tIns="0" rIns="0" bIns="0" rtlCol="0" anchor="ctr"/>
          <a:lstStyle/>
          <a:p>
            <a:pPr marL="0" indent="0" algn="ctr">
              <a:buNone/>
            </a:pPr>
            <a:r>
              <a:rPr lang="en-US" sz="1400" dirty="0">
                <a:solidFill>
                  <a:srgbClr val="D4AF37"/>
                </a:solidFill>
                <a:latin typeface="Poppins" pitchFamily="34" charset="0"/>
                <a:ea typeface="Poppins" pitchFamily="34" charset="-122"/>
                <a:cs typeface="Poppins" pitchFamily="34" charset="-120"/>
              </a:rPr>
              <a:t>Master Chess With Your AI Self.</a:t>
            </a:r>
            <a:endParaRPr lang="en-US" sz="1400" dirty="0"/>
          </a:p>
        </p:txBody>
      </p:sp>
      <p:sp>
        <p:nvSpPr>
          <p:cNvPr id="72" name="Text 70"/>
          <p:cNvSpPr txBox="1"/>
          <p:nvPr/>
        </p:nvSpPr>
        <p:spPr>
          <a:xfrm>
            <a:off x="1117600" y="3655060"/>
            <a:ext cx="9144000" cy="274320"/>
          </a:xfrm>
          <a:prstGeom prst="rect">
            <a:avLst/>
          </a:prstGeom>
          <a:noFill/>
          <a:ln/>
        </p:spPr>
        <p:txBody>
          <a:bodyPr wrap="square" lIns="0" tIns="0" rIns="0" bIns="0" rtlCol="0" anchor="ctr"/>
          <a:lstStyle/>
          <a:p>
            <a:pPr marL="0" indent="0" algn="ctr">
              <a:buNone/>
            </a:pPr>
            <a:r>
              <a:rPr lang="en-US" sz="900" i="1" dirty="0">
                <a:solidFill>
                  <a:srgbClr val="8A8F98"/>
                </a:solidFill>
                <a:latin typeface="Poppins" pitchFamily="34" charset="0"/>
                <a:ea typeface="Poppins" pitchFamily="34" charset="-122"/>
                <a:cs typeface="Poppins" pitchFamily="34" charset="-120"/>
              </a:rPr>
              <a:t>Evolve your game. Preserve your style.</a:t>
            </a:r>
            <a:endParaRPr lang="en-US" sz="900" dirty="0"/>
          </a:p>
        </p:txBody>
      </p:sp>
      <p:pic>
        <p:nvPicPr>
          <p:cNvPr id="79" name="Picture 78">
            <a:extLst>
              <a:ext uri="{FF2B5EF4-FFF2-40B4-BE49-F238E27FC236}">
                <a16:creationId xmlns:a16="http://schemas.microsoft.com/office/drawing/2014/main" id="{9AE05CA6-B63E-6CF5-7A8A-FF175F5AADBB}"/>
              </a:ext>
            </a:extLst>
          </p:cNvPr>
          <p:cNvPicPr>
            <a:picLocks noChangeAspect="1"/>
          </p:cNvPicPr>
          <p:nvPr/>
        </p:nvPicPr>
        <p:blipFill>
          <a:blip r:embed="rId3"/>
          <a:stretch>
            <a:fillRect/>
          </a:stretch>
        </p:blipFill>
        <p:spPr>
          <a:xfrm>
            <a:off x="905977" y="800100"/>
            <a:ext cx="2048847" cy="3543300"/>
          </a:xfrm>
          <a:prstGeom prst="rect">
            <a:avLst/>
          </a:prstGeom>
        </p:spPr>
      </p:pic>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2450</TotalTime>
  <Words>1131</Words>
  <Application>Microsoft Office PowerPoint</Application>
  <PresentationFormat>On-screen Show (16:9)</PresentationFormat>
  <Paragraphs>189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Poppins</vt:lpstr>
      <vt:lpstr>Poppins </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 Evolve</dc:title>
  <dc:subject>PptxGenJS Presentation</dc:subject>
  <dc:creator>PptxGenJS</dc:creator>
  <cp:lastModifiedBy>deepakmuruganlap@outlook.com</cp:lastModifiedBy>
  <cp:revision>3</cp:revision>
  <dcterms:created xsi:type="dcterms:W3CDTF">2026-10-06T20:24:43Z</dcterms:created>
  <dcterms:modified xsi:type="dcterms:W3CDTF">2026-10-09T12:42:44Z</dcterms:modified>
</cp:coreProperties>
</file>